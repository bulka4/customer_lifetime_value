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4" d="100"/>
          <a:sy n="104" d="100"/>
        </p:scale>
        <p:origin x="834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58B56F-A04E-CE76-342F-1E9BA5384E4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4DDAE5D-EF65-4C7E-EB94-37A35686A3A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7A53477-A42E-5FC7-C242-C061788EE7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AB2281-75E2-4135-B861-DE455056F38C}" type="datetimeFigureOut">
              <a:rPr lang="en-US" smtClean="0"/>
              <a:t>11/23/2023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5F35C41-2D07-D671-5A88-E43DD7342E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E8D8D8A-06DE-0DD1-D663-67D0C97117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3BBA73-2CB8-4FFA-9B8C-D695A02C3F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17098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C33157-17FF-2EAD-5279-1013B6916C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A9B846-0A47-E9C6-7B1F-D4C7413C766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22B2B85-8ABE-7CD3-5EEA-21EA2AAD54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AB2281-75E2-4135-B861-DE455056F38C}" type="datetimeFigureOut">
              <a:rPr lang="en-US" smtClean="0"/>
              <a:t>11/23/2023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8ADC8AE-6195-B703-4766-33FFF8AD2C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E593E6-1C14-31C0-150A-2A1D0437B3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3BBA73-2CB8-4FFA-9B8C-D695A02C3F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4964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3B8A0B-585C-E04E-35D3-D2EDA24AA5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34A0BCF-1930-AC76-92B4-184F7709EC9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F98629-A73D-6B02-7A42-38412529B1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AB2281-75E2-4135-B861-DE455056F38C}" type="datetimeFigureOut">
              <a:rPr lang="en-US" smtClean="0"/>
              <a:t>11/23/2023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334B5F5-9949-D593-1557-2B8859FCFC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7E66F50-486E-54D8-3F88-8AABC025C3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3BBA73-2CB8-4FFA-9B8C-D695A02C3F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65784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ED6CE2-2FED-8994-1EB5-43409937A8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501235-270E-7EE2-3006-4733D0F7B03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BE5B491-3503-969B-2F55-E27BE9727A8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C6625BF-6D72-C97E-4EEA-367D5B6E8B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AB2281-75E2-4135-B861-DE455056F38C}" type="datetimeFigureOut">
              <a:rPr lang="en-US" smtClean="0"/>
              <a:t>11/23/2023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2BDF73F-50CD-0FDF-D9C3-4A1A5D9BC9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DB1B8C2-E757-A73C-9DBE-B1B0F1C609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3BBA73-2CB8-4FFA-9B8C-D695A02C3F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75835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3CF9DE-BFE1-9F70-CD2E-B6A0AD82BD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45E4667-DF44-B3E2-11C2-11DF7AE5757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2A6DABD-F6E7-19E5-269E-9746D008564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D0E3368-445D-A57F-EE19-EAF61C6C564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FF1CF14-8B57-D1C3-31EE-56EB10A16D1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7C8D6BA-D7EE-E089-A4D9-BC045DFE79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AB2281-75E2-4135-B861-DE455056F38C}" type="datetimeFigureOut">
              <a:rPr lang="en-US" smtClean="0"/>
              <a:t>11/23/2023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900DC7C-1BB0-C1F3-7DD6-F9D34ABBF5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0EC5EF3-CFCA-E231-6945-AEEF5638A6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3BBA73-2CB8-4FFA-9B8C-D695A02C3F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77893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DD4641-EA98-75B1-B697-EB6412BDB4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73B9BEB-2DC9-69B7-4EEF-85276E8A02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AB2281-75E2-4135-B861-DE455056F38C}" type="datetimeFigureOut">
              <a:rPr lang="en-US" smtClean="0"/>
              <a:t>11/23/2023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1E0D3F2-EE75-22AD-0944-1E5D7FD5D5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79772E3-4ECE-793E-A694-5FEB5EF007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3BBA73-2CB8-4FFA-9B8C-D695A02C3F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9618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9AFF2CC-EE22-759B-8AED-ACF0DACCF2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AB2281-75E2-4135-B861-DE455056F38C}" type="datetimeFigureOut">
              <a:rPr lang="en-US" smtClean="0"/>
              <a:t>11/23/2023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9C475FF-D460-4B3C-F575-3755EDD0B9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303CA7A-3225-7EFB-5F7B-E663FF9448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3BBA73-2CB8-4FFA-9B8C-D695A02C3F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1280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465D18-2A20-7F7F-21C1-E1B69ACE13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602FE4-FB0E-C456-C933-57921DB825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13F78C3-C924-13C7-FD5A-CE6A2152900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9CFB642-6D85-B140-98B9-661C5718FE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AB2281-75E2-4135-B861-DE455056F38C}" type="datetimeFigureOut">
              <a:rPr lang="en-US" smtClean="0"/>
              <a:t>11/23/2023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66D2604-5749-01AB-6264-D99DB22C53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BE72619-775E-E853-2898-7F9E3ABDA5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3BBA73-2CB8-4FFA-9B8C-D695A02C3F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19033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EA8698-C283-FC0D-0C5E-08614D1EE9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E1859ED-8FCA-4ECD-A5E5-3EC74DACFB9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536F045-A517-E3A4-2587-95B45F59C36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D834F2F-E3B0-FF28-F472-70AAD5D8AC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AB2281-75E2-4135-B861-DE455056F38C}" type="datetimeFigureOut">
              <a:rPr lang="en-US" smtClean="0"/>
              <a:t>11/23/2023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4BD643B-7B46-B59E-E780-558AA9FAE0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E8F5A09-3BD1-3F75-9564-9F2A6B1813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3BBA73-2CB8-4FFA-9B8C-D695A02C3F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19019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412728-D812-E427-525B-4C60CC946F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81165CE-9367-D2A7-4C9D-43BB93D836F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AB68F63-0EC2-81D3-4081-9504A21219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AB2281-75E2-4135-B861-DE455056F38C}" type="datetimeFigureOut">
              <a:rPr lang="en-US" smtClean="0"/>
              <a:t>11/23/2023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CD74E88-608F-DD6E-519E-BCED27BB15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8BB50D8-79BF-C0A6-C88E-8DEDDFF188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3BBA73-2CB8-4FFA-9B8C-D695A02C3F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98172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58E7013-C11B-3B2A-E8B8-B93FC57D17F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1310D03-195B-3111-39BA-E5B00FAACD8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55DA2D0-43AB-2677-0AC4-677E25A399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AB2281-75E2-4135-B861-DE455056F38C}" type="datetimeFigureOut">
              <a:rPr lang="en-US" smtClean="0"/>
              <a:t>11/23/2023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D1D5432-10AA-8BDF-B51A-7B1A5A0BAB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145578-E971-73DE-F125-9435D9B868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3BBA73-2CB8-4FFA-9B8C-D695A02C3F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43092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B7E3A6A-43F8-B1B2-C6AA-B1A67B3504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73EFA08-571B-CC81-0C3D-2151ACACD9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C393234-47B8-835B-D8A0-2E90F06375A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0AB2281-75E2-4135-B861-DE455056F38C}" type="datetimeFigureOut">
              <a:rPr lang="en-US" smtClean="0"/>
              <a:t>11/23/2023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B20D4C-3B8F-5D17-858D-CD5C280E02A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EE0FE2-4BA9-1A66-0830-337802D2BF9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83BBA73-2CB8-4FFA-9B8C-D695A02C3F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645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DC46D892-1BFF-ADAD-6757-A25314C657CB}"/>
              </a:ext>
            </a:extLst>
          </p:cNvPr>
          <p:cNvCxnSpPr/>
          <p:nvPr/>
        </p:nvCxnSpPr>
        <p:spPr>
          <a:xfrm>
            <a:off x="720437" y="2576945"/>
            <a:ext cx="4553527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7065DDE8-B17C-0CE3-DBF4-6648EA598BFC}"/>
              </a:ext>
            </a:extLst>
          </p:cNvPr>
          <p:cNvCxnSpPr/>
          <p:nvPr/>
        </p:nvCxnSpPr>
        <p:spPr>
          <a:xfrm>
            <a:off x="988292" y="2456872"/>
            <a:ext cx="0" cy="22167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45239D98-8C78-007E-75AD-B9E1987180DC}"/>
              </a:ext>
            </a:extLst>
          </p:cNvPr>
          <p:cNvCxnSpPr/>
          <p:nvPr/>
        </p:nvCxnSpPr>
        <p:spPr>
          <a:xfrm>
            <a:off x="2073565" y="2456872"/>
            <a:ext cx="0" cy="22167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AF566A74-AE0C-EC5B-2F50-FC864D08CD26}"/>
              </a:ext>
            </a:extLst>
          </p:cNvPr>
          <p:cNvCxnSpPr/>
          <p:nvPr/>
        </p:nvCxnSpPr>
        <p:spPr>
          <a:xfrm>
            <a:off x="3038765" y="2456872"/>
            <a:ext cx="0" cy="22167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4CC3DB13-257B-1426-A758-C75D24483EAA}"/>
              </a:ext>
            </a:extLst>
          </p:cNvPr>
          <p:cNvCxnSpPr/>
          <p:nvPr/>
        </p:nvCxnSpPr>
        <p:spPr>
          <a:xfrm>
            <a:off x="4133274" y="2452254"/>
            <a:ext cx="0" cy="22167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F31A9CB0-D3D9-9223-607A-20D61333ED81}"/>
              </a:ext>
            </a:extLst>
          </p:cNvPr>
          <p:cNvCxnSpPr/>
          <p:nvPr/>
        </p:nvCxnSpPr>
        <p:spPr>
          <a:xfrm>
            <a:off x="720437" y="3828472"/>
            <a:ext cx="4553527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CD461C0C-279A-0956-56D7-8060EABB6955}"/>
              </a:ext>
            </a:extLst>
          </p:cNvPr>
          <p:cNvCxnSpPr/>
          <p:nvPr/>
        </p:nvCxnSpPr>
        <p:spPr>
          <a:xfrm>
            <a:off x="988292" y="3708399"/>
            <a:ext cx="0" cy="22167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9C2C4D7F-2EFA-2BC9-1506-06BC9E229B81}"/>
              </a:ext>
            </a:extLst>
          </p:cNvPr>
          <p:cNvCxnSpPr/>
          <p:nvPr/>
        </p:nvCxnSpPr>
        <p:spPr>
          <a:xfrm>
            <a:off x="2073565" y="3708399"/>
            <a:ext cx="0" cy="22167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14B8C776-FE2F-FD2E-07C0-5240EBD64A7C}"/>
              </a:ext>
            </a:extLst>
          </p:cNvPr>
          <p:cNvCxnSpPr/>
          <p:nvPr/>
        </p:nvCxnSpPr>
        <p:spPr>
          <a:xfrm>
            <a:off x="3038765" y="3708399"/>
            <a:ext cx="0" cy="22167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9AEFCACC-7FD8-82FF-7129-23232454E757}"/>
              </a:ext>
            </a:extLst>
          </p:cNvPr>
          <p:cNvCxnSpPr/>
          <p:nvPr/>
        </p:nvCxnSpPr>
        <p:spPr>
          <a:xfrm>
            <a:off x="4133274" y="3703781"/>
            <a:ext cx="0" cy="22167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34A0BE39-C33F-B48C-F2F1-8ECF62AE44B5}"/>
              </a:ext>
            </a:extLst>
          </p:cNvPr>
          <p:cNvCxnSpPr/>
          <p:nvPr/>
        </p:nvCxnSpPr>
        <p:spPr>
          <a:xfrm>
            <a:off x="720437" y="5140036"/>
            <a:ext cx="4553527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EF1CB9E9-89FC-CCD9-9291-E3E1472401CB}"/>
              </a:ext>
            </a:extLst>
          </p:cNvPr>
          <p:cNvCxnSpPr/>
          <p:nvPr/>
        </p:nvCxnSpPr>
        <p:spPr>
          <a:xfrm>
            <a:off x="988292" y="5019963"/>
            <a:ext cx="0" cy="22167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72AEF191-205D-00F6-27C0-E6DA5C6EB9D7}"/>
              </a:ext>
            </a:extLst>
          </p:cNvPr>
          <p:cNvCxnSpPr/>
          <p:nvPr/>
        </p:nvCxnSpPr>
        <p:spPr>
          <a:xfrm>
            <a:off x="2073565" y="5019963"/>
            <a:ext cx="0" cy="22167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AEFDEAF4-6DFD-938A-CFD9-A6597C6CE193}"/>
              </a:ext>
            </a:extLst>
          </p:cNvPr>
          <p:cNvCxnSpPr/>
          <p:nvPr/>
        </p:nvCxnSpPr>
        <p:spPr>
          <a:xfrm>
            <a:off x="3038765" y="5019963"/>
            <a:ext cx="0" cy="22167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2F955468-2B4A-BEB8-2F11-7EF503166FF1}"/>
              </a:ext>
            </a:extLst>
          </p:cNvPr>
          <p:cNvCxnSpPr/>
          <p:nvPr/>
        </p:nvCxnSpPr>
        <p:spPr>
          <a:xfrm>
            <a:off x="4133274" y="5015345"/>
            <a:ext cx="0" cy="22167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9862929D-22AB-48C7-CCDB-FF9877B1863E}"/>
              </a:ext>
            </a:extLst>
          </p:cNvPr>
          <p:cNvCxnSpPr/>
          <p:nvPr/>
        </p:nvCxnSpPr>
        <p:spPr>
          <a:xfrm>
            <a:off x="762001" y="6183745"/>
            <a:ext cx="4553527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E291F9FA-8112-1123-F8BF-BB09C8B8F292}"/>
              </a:ext>
            </a:extLst>
          </p:cNvPr>
          <p:cNvCxnSpPr/>
          <p:nvPr/>
        </p:nvCxnSpPr>
        <p:spPr>
          <a:xfrm>
            <a:off x="1029856" y="6063672"/>
            <a:ext cx="0" cy="22167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3C83D495-A46C-B3D7-D43E-97DC1DF69E5C}"/>
              </a:ext>
            </a:extLst>
          </p:cNvPr>
          <p:cNvCxnSpPr/>
          <p:nvPr/>
        </p:nvCxnSpPr>
        <p:spPr>
          <a:xfrm>
            <a:off x="2115129" y="6063672"/>
            <a:ext cx="0" cy="22167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B00EF4C9-ADB3-0F2D-7BBC-CEAB9F8393C3}"/>
              </a:ext>
            </a:extLst>
          </p:cNvPr>
          <p:cNvCxnSpPr/>
          <p:nvPr/>
        </p:nvCxnSpPr>
        <p:spPr>
          <a:xfrm>
            <a:off x="3080329" y="6063672"/>
            <a:ext cx="0" cy="22167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4841ED2D-E7BF-3339-DD32-59F83F2E9073}"/>
              </a:ext>
            </a:extLst>
          </p:cNvPr>
          <p:cNvCxnSpPr/>
          <p:nvPr/>
        </p:nvCxnSpPr>
        <p:spPr>
          <a:xfrm>
            <a:off x="4174838" y="6059054"/>
            <a:ext cx="0" cy="22167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Oval 25">
            <a:extLst>
              <a:ext uri="{FF2B5EF4-FFF2-40B4-BE49-F238E27FC236}">
                <a16:creationId xmlns:a16="http://schemas.microsoft.com/office/drawing/2014/main" id="{9373054E-C7A7-74DD-AE7D-FA04921737DE}"/>
              </a:ext>
            </a:extLst>
          </p:cNvPr>
          <p:cNvSpPr/>
          <p:nvPr/>
        </p:nvSpPr>
        <p:spPr>
          <a:xfrm>
            <a:off x="919026" y="2110512"/>
            <a:ext cx="110830" cy="110833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AB3E917F-725D-E186-BBF1-6901E3D42849}"/>
              </a:ext>
            </a:extLst>
          </p:cNvPr>
          <p:cNvSpPr/>
          <p:nvPr/>
        </p:nvSpPr>
        <p:spPr>
          <a:xfrm>
            <a:off x="1168401" y="2110511"/>
            <a:ext cx="110830" cy="110833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284322A4-0AE7-5FC6-D1B3-66113F7A1174}"/>
              </a:ext>
            </a:extLst>
          </p:cNvPr>
          <p:cNvSpPr/>
          <p:nvPr/>
        </p:nvSpPr>
        <p:spPr>
          <a:xfrm>
            <a:off x="1417776" y="2110510"/>
            <a:ext cx="110830" cy="110833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D5DF90E3-5A0A-7802-1755-A792143D3A65}"/>
              </a:ext>
            </a:extLst>
          </p:cNvPr>
          <p:cNvSpPr/>
          <p:nvPr/>
        </p:nvSpPr>
        <p:spPr>
          <a:xfrm>
            <a:off x="1667151" y="2110512"/>
            <a:ext cx="110830" cy="110833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F1248C94-1B7E-A50E-6C77-1C3BBB45CD1B}"/>
              </a:ext>
            </a:extLst>
          </p:cNvPr>
          <p:cNvSpPr/>
          <p:nvPr/>
        </p:nvSpPr>
        <p:spPr>
          <a:xfrm>
            <a:off x="1916526" y="2110511"/>
            <a:ext cx="110830" cy="110833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951D517A-3F80-945B-76A1-9EDC8F198925}"/>
              </a:ext>
            </a:extLst>
          </p:cNvPr>
          <p:cNvSpPr/>
          <p:nvPr/>
        </p:nvSpPr>
        <p:spPr>
          <a:xfrm>
            <a:off x="2165901" y="2110510"/>
            <a:ext cx="110830" cy="110833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82B41452-CB67-CC43-8E7D-AA129616F625}"/>
              </a:ext>
            </a:extLst>
          </p:cNvPr>
          <p:cNvSpPr/>
          <p:nvPr/>
        </p:nvSpPr>
        <p:spPr>
          <a:xfrm>
            <a:off x="919026" y="3371270"/>
            <a:ext cx="110830" cy="110833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AD9E1099-C754-7907-868A-9A4F0A643FA6}"/>
              </a:ext>
            </a:extLst>
          </p:cNvPr>
          <p:cNvSpPr/>
          <p:nvPr/>
        </p:nvSpPr>
        <p:spPr>
          <a:xfrm>
            <a:off x="1168401" y="3371269"/>
            <a:ext cx="110830" cy="110833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2F3930A2-5608-19CB-5D18-66381B9D3531}"/>
              </a:ext>
            </a:extLst>
          </p:cNvPr>
          <p:cNvSpPr/>
          <p:nvPr/>
        </p:nvSpPr>
        <p:spPr>
          <a:xfrm>
            <a:off x="1417776" y="3371268"/>
            <a:ext cx="110830" cy="110833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BD0E9A23-A97D-08FE-12B5-D00BF0ECE532}"/>
              </a:ext>
            </a:extLst>
          </p:cNvPr>
          <p:cNvSpPr/>
          <p:nvPr/>
        </p:nvSpPr>
        <p:spPr>
          <a:xfrm>
            <a:off x="1667151" y="3371270"/>
            <a:ext cx="110830" cy="110833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75FEE90B-38FF-F3F7-A59F-DC51171C7215}"/>
              </a:ext>
            </a:extLst>
          </p:cNvPr>
          <p:cNvSpPr/>
          <p:nvPr/>
        </p:nvSpPr>
        <p:spPr>
          <a:xfrm>
            <a:off x="1916526" y="3371269"/>
            <a:ext cx="110830" cy="110833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3703DFC4-B284-11C5-3EB7-546DD8032B8D}"/>
              </a:ext>
            </a:extLst>
          </p:cNvPr>
          <p:cNvSpPr/>
          <p:nvPr/>
        </p:nvSpPr>
        <p:spPr>
          <a:xfrm>
            <a:off x="2165901" y="3371268"/>
            <a:ext cx="110830" cy="110833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D0B9527C-B05B-4D34-7617-C16175EEA6F9}"/>
              </a:ext>
            </a:extLst>
          </p:cNvPr>
          <p:cNvSpPr/>
          <p:nvPr/>
        </p:nvSpPr>
        <p:spPr>
          <a:xfrm>
            <a:off x="2415276" y="3371270"/>
            <a:ext cx="110830" cy="110833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Oval 38">
            <a:extLst>
              <a:ext uri="{FF2B5EF4-FFF2-40B4-BE49-F238E27FC236}">
                <a16:creationId xmlns:a16="http://schemas.microsoft.com/office/drawing/2014/main" id="{71DCB054-6CBF-87FF-F641-9D06FB008080}"/>
              </a:ext>
            </a:extLst>
          </p:cNvPr>
          <p:cNvSpPr/>
          <p:nvPr/>
        </p:nvSpPr>
        <p:spPr>
          <a:xfrm>
            <a:off x="2664651" y="3371269"/>
            <a:ext cx="110830" cy="110833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Oval 39">
            <a:extLst>
              <a:ext uri="{FF2B5EF4-FFF2-40B4-BE49-F238E27FC236}">
                <a16:creationId xmlns:a16="http://schemas.microsoft.com/office/drawing/2014/main" id="{D367AF03-AC17-4BA9-47F7-DEC3FE547C95}"/>
              </a:ext>
            </a:extLst>
          </p:cNvPr>
          <p:cNvSpPr/>
          <p:nvPr/>
        </p:nvSpPr>
        <p:spPr>
          <a:xfrm>
            <a:off x="2914026" y="3371268"/>
            <a:ext cx="110830" cy="110833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Oval 40">
            <a:extLst>
              <a:ext uri="{FF2B5EF4-FFF2-40B4-BE49-F238E27FC236}">
                <a16:creationId xmlns:a16="http://schemas.microsoft.com/office/drawing/2014/main" id="{EE45EA17-068F-EFA7-59B9-0BFAD5133184}"/>
              </a:ext>
            </a:extLst>
          </p:cNvPr>
          <p:cNvSpPr/>
          <p:nvPr/>
        </p:nvSpPr>
        <p:spPr>
          <a:xfrm>
            <a:off x="932935" y="4537349"/>
            <a:ext cx="110830" cy="110833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Oval 41">
            <a:extLst>
              <a:ext uri="{FF2B5EF4-FFF2-40B4-BE49-F238E27FC236}">
                <a16:creationId xmlns:a16="http://schemas.microsoft.com/office/drawing/2014/main" id="{AD4E62EE-647A-E362-ECAA-083C72F431E3}"/>
              </a:ext>
            </a:extLst>
          </p:cNvPr>
          <p:cNvSpPr/>
          <p:nvPr/>
        </p:nvSpPr>
        <p:spPr>
          <a:xfrm>
            <a:off x="1182310" y="4537348"/>
            <a:ext cx="110830" cy="110833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Oval 42">
            <a:extLst>
              <a:ext uri="{FF2B5EF4-FFF2-40B4-BE49-F238E27FC236}">
                <a16:creationId xmlns:a16="http://schemas.microsoft.com/office/drawing/2014/main" id="{9C393417-5D6B-511D-1EE8-252E5F43E012}"/>
              </a:ext>
            </a:extLst>
          </p:cNvPr>
          <p:cNvSpPr/>
          <p:nvPr/>
        </p:nvSpPr>
        <p:spPr>
          <a:xfrm>
            <a:off x="1431685" y="4537347"/>
            <a:ext cx="110830" cy="110833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Oval 43">
            <a:extLst>
              <a:ext uri="{FF2B5EF4-FFF2-40B4-BE49-F238E27FC236}">
                <a16:creationId xmlns:a16="http://schemas.microsoft.com/office/drawing/2014/main" id="{29145FED-F195-8461-6B3A-7045C33359B4}"/>
              </a:ext>
            </a:extLst>
          </p:cNvPr>
          <p:cNvSpPr/>
          <p:nvPr/>
        </p:nvSpPr>
        <p:spPr>
          <a:xfrm>
            <a:off x="1681060" y="4537349"/>
            <a:ext cx="110830" cy="110833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Oval 44">
            <a:extLst>
              <a:ext uri="{FF2B5EF4-FFF2-40B4-BE49-F238E27FC236}">
                <a16:creationId xmlns:a16="http://schemas.microsoft.com/office/drawing/2014/main" id="{75FD3F8F-C585-7C3F-EB22-BB30D11A47C2}"/>
              </a:ext>
            </a:extLst>
          </p:cNvPr>
          <p:cNvSpPr/>
          <p:nvPr/>
        </p:nvSpPr>
        <p:spPr>
          <a:xfrm>
            <a:off x="1930435" y="4537348"/>
            <a:ext cx="110830" cy="110833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Oval 45">
            <a:extLst>
              <a:ext uri="{FF2B5EF4-FFF2-40B4-BE49-F238E27FC236}">
                <a16:creationId xmlns:a16="http://schemas.microsoft.com/office/drawing/2014/main" id="{924CB8D4-9637-AB8B-4444-23E55A138F20}"/>
              </a:ext>
            </a:extLst>
          </p:cNvPr>
          <p:cNvSpPr/>
          <p:nvPr/>
        </p:nvSpPr>
        <p:spPr>
          <a:xfrm>
            <a:off x="2179810" y="4537347"/>
            <a:ext cx="110830" cy="110833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Oval 46">
            <a:extLst>
              <a:ext uri="{FF2B5EF4-FFF2-40B4-BE49-F238E27FC236}">
                <a16:creationId xmlns:a16="http://schemas.microsoft.com/office/drawing/2014/main" id="{D73DCAC4-0BC2-CCED-B2A7-77F42BF12424}"/>
              </a:ext>
            </a:extLst>
          </p:cNvPr>
          <p:cNvSpPr/>
          <p:nvPr/>
        </p:nvSpPr>
        <p:spPr>
          <a:xfrm>
            <a:off x="2429185" y="4537349"/>
            <a:ext cx="110830" cy="110833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Oval 47">
            <a:extLst>
              <a:ext uri="{FF2B5EF4-FFF2-40B4-BE49-F238E27FC236}">
                <a16:creationId xmlns:a16="http://schemas.microsoft.com/office/drawing/2014/main" id="{1BA523A9-3D1A-6AC7-C9A0-C056BF054D0F}"/>
              </a:ext>
            </a:extLst>
          </p:cNvPr>
          <p:cNvSpPr/>
          <p:nvPr/>
        </p:nvSpPr>
        <p:spPr>
          <a:xfrm>
            <a:off x="2678560" y="4537348"/>
            <a:ext cx="110830" cy="110833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Oval 48">
            <a:extLst>
              <a:ext uri="{FF2B5EF4-FFF2-40B4-BE49-F238E27FC236}">
                <a16:creationId xmlns:a16="http://schemas.microsoft.com/office/drawing/2014/main" id="{A67BDB24-3066-D68E-C605-DEE38E9FC973}"/>
              </a:ext>
            </a:extLst>
          </p:cNvPr>
          <p:cNvSpPr/>
          <p:nvPr/>
        </p:nvSpPr>
        <p:spPr>
          <a:xfrm>
            <a:off x="2927935" y="4537347"/>
            <a:ext cx="110830" cy="110833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Oval 49">
            <a:extLst>
              <a:ext uri="{FF2B5EF4-FFF2-40B4-BE49-F238E27FC236}">
                <a16:creationId xmlns:a16="http://schemas.microsoft.com/office/drawing/2014/main" id="{55187A19-71BC-EBBE-AB48-F727995F2027}"/>
              </a:ext>
            </a:extLst>
          </p:cNvPr>
          <p:cNvSpPr/>
          <p:nvPr/>
        </p:nvSpPr>
        <p:spPr>
          <a:xfrm>
            <a:off x="974499" y="5678075"/>
            <a:ext cx="110830" cy="110833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Oval 50">
            <a:extLst>
              <a:ext uri="{FF2B5EF4-FFF2-40B4-BE49-F238E27FC236}">
                <a16:creationId xmlns:a16="http://schemas.microsoft.com/office/drawing/2014/main" id="{0556C1E5-6F79-7344-F6DE-229056171859}"/>
              </a:ext>
            </a:extLst>
          </p:cNvPr>
          <p:cNvSpPr/>
          <p:nvPr/>
        </p:nvSpPr>
        <p:spPr>
          <a:xfrm>
            <a:off x="1223874" y="5678074"/>
            <a:ext cx="110830" cy="110833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Oval 51">
            <a:extLst>
              <a:ext uri="{FF2B5EF4-FFF2-40B4-BE49-F238E27FC236}">
                <a16:creationId xmlns:a16="http://schemas.microsoft.com/office/drawing/2014/main" id="{9ABE269D-823F-2A21-F273-88786746D001}"/>
              </a:ext>
            </a:extLst>
          </p:cNvPr>
          <p:cNvSpPr/>
          <p:nvPr/>
        </p:nvSpPr>
        <p:spPr>
          <a:xfrm>
            <a:off x="1473249" y="5678073"/>
            <a:ext cx="110830" cy="110833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Oval 52">
            <a:extLst>
              <a:ext uri="{FF2B5EF4-FFF2-40B4-BE49-F238E27FC236}">
                <a16:creationId xmlns:a16="http://schemas.microsoft.com/office/drawing/2014/main" id="{E6B43532-C432-F8F4-5982-7AFCBF5CB00C}"/>
              </a:ext>
            </a:extLst>
          </p:cNvPr>
          <p:cNvSpPr/>
          <p:nvPr/>
        </p:nvSpPr>
        <p:spPr>
          <a:xfrm>
            <a:off x="1722624" y="5678075"/>
            <a:ext cx="110830" cy="110833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" name="Oval 53">
            <a:extLst>
              <a:ext uri="{FF2B5EF4-FFF2-40B4-BE49-F238E27FC236}">
                <a16:creationId xmlns:a16="http://schemas.microsoft.com/office/drawing/2014/main" id="{215CE6FC-EC02-9E80-5134-AA7B579FA0DA}"/>
              </a:ext>
            </a:extLst>
          </p:cNvPr>
          <p:cNvSpPr/>
          <p:nvPr/>
        </p:nvSpPr>
        <p:spPr>
          <a:xfrm>
            <a:off x="1971999" y="5678074"/>
            <a:ext cx="110830" cy="110833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" name="Oval 54">
            <a:extLst>
              <a:ext uri="{FF2B5EF4-FFF2-40B4-BE49-F238E27FC236}">
                <a16:creationId xmlns:a16="http://schemas.microsoft.com/office/drawing/2014/main" id="{3707F25E-B781-8DFC-14BC-1EBAC33E6786}"/>
              </a:ext>
            </a:extLst>
          </p:cNvPr>
          <p:cNvSpPr/>
          <p:nvPr/>
        </p:nvSpPr>
        <p:spPr>
          <a:xfrm>
            <a:off x="2221374" y="5678073"/>
            <a:ext cx="110830" cy="110833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Oval 55">
            <a:extLst>
              <a:ext uri="{FF2B5EF4-FFF2-40B4-BE49-F238E27FC236}">
                <a16:creationId xmlns:a16="http://schemas.microsoft.com/office/drawing/2014/main" id="{FB872F89-99C8-0EDD-3C05-2FEC2DA2885C}"/>
              </a:ext>
            </a:extLst>
          </p:cNvPr>
          <p:cNvSpPr/>
          <p:nvPr/>
        </p:nvSpPr>
        <p:spPr>
          <a:xfrm>
            <a:off x="2470749" y="5678075"/>
            <a:ext cx="110830" cy="110833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" name="Oval 56">
            <a:extLst>
              <a:ext uri="{FF2B5EF4-FFF2-40B4-BE49-F238E27FC236}">
                <a16:creationId xmlns:a16="http://schemas.microsoft.com/office/drawing/2014/main" id="{F599627D-120A-7C2E-91CC-233A6E4C3C9D}"/>
              </a:ext>
            </a:extLst>
          </p:cNvPr>
          <p:cNvSpPr/>
          <p:nvPr/>
        </p:nvSpPr>
        <p:spPr>
          <a:xfrm>
            <a:off x="2720124" y="5678074"/>
            <a:ext cx="110830" cy="110833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" name="Oval 57">
            <a:extLst>
              <a:ext uri="{FF2B5EF4-FFF2-40B4-BE49-F238E27FC236}">
                <a16:creationId xmlns:a16="http://schemas.microsoft.com/office/drawing/2014/main" id="{D110D9C5-A93B-9B04-64CF-5DAC5FDB723D}"/>
              </a:ext>
            </a:extLst>
          </p:cNvPr>
          <p:cNvSpPr/>
          <p:nvPr/>
        </p:nvSpPr>
        <p:spPr>
          <a:xfrm>
            <a:off x="2969499" y="5678073"/>
            <a:ext cx="110830" cy="110833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" name="Oval 58">
            <a:extLst>
              <a:ext uri="{FF2B5EF4-FFF2-40B4-BE49-F238E27FC236}">
                <a16:creationId xmlns:a16="http://schemas.microsoft.com/office/drawing/2014/main" id="{186FBCB7-B6D0-777D-9255-1FCBAB77A198}"/>
              </a:ext>
            </a:extLst>
          </p:cNvPr>
          <p:cNvSpPr/>
          <p:nvPr/>
        </p:nvSpPr>
        <p:spPr>
          <a:xfrm>
            <a:off x="3177310" y="4546583"/>
            <a:ext cx="110830" cy="110833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0" name="Oval 59">
            <a:extLst>
              <a:ext uri="{FF2B5EF4-FFF2-40B4-BE49-F238E27FC236}">
                <a16:creationId xmlns:a16="http://schemas.microsoft.com/office/drawing/2014/main" id="{46BD1BC5-3711-6FE7-B0D1-1B0C537C8F0E}"/>
              </a:ext>
            </a:extLst>
          </p:cNvPr>
          <p:cNvSpPr/>
          <p:nvPr/>
        </p:nvSpPr>
        <p:spPr>
          <a:xfrm>
            <a:off x="3426685" y="4546582"/>
            <a:ext cx="110830" cy="110833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" name="Oval 60">
            <a:extLst>
              <a:ext uri="{FF2B5EF4-FFF2-40B4-BE49-F238E27FC236}">
                <a16:creationId xmlns:a16="http://schemas.microsoft.com/office/drawing/2014/main" id="{1DD3CC81-987C-CE0C-5165-341EC87CD1E2}"/>
              </a:ext>
            </a:extLst>
          </p:cNvPr>
          <p:cNvSpPr/>
          <p:nvPr/>
        </p:nvSpPr>
        <p:spPr>
          <a:xfrm>
            <a:off x="3676060" y="4546581"/>
            <a:ext cx="110830" cy="110833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2" name="Oval 61">
            <a:extLst>
              <a:ext uri="{FF2B5EF4-FFF2-40B4-BE49-F238E27FC236}">
                <a16:creationId xmlns:a16="http://schemas.microsoft.com/office/drawing/2014/main" id="{86E18316-D9EA-A124-DADA-227137C74290}"/>
              </a:ext>
            </a:extLst>
          </p:cNvPr>
          <p:cNvSpPr/>
          <p:nvPr/>
        </p:nvSpPr>
        <p:spPr>
          <a:xfrm>
            <a:off x="3214256" y="5678072"/>
            <a:ext cx="110830" cy="110833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3" name="Oval 62">
            <a:extLst>
              <a:ext uri="{FF2B5EF4-FFF2-40B4-BE49-F238E27FC236}">
                <a16:creationId xmlns:a16="http://schemas.microsoft.com/office/drawing/2014/main" id="{572FCE86-A1F9-D922-A752-047732DB5F86}"/>
              </a:ext>
            </a:extLst>
          </p:cNvPr>
          <p:cNvSpPr/>
          <p:nvPr/>
        </p:nvSpPr>
        <p:spPr>
          <a:xfrm>
            <a:off x="3463631" y="5678071"/>
            <a:ext cx="110830" cy="110833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4" name="Oval 63">
            <a:extLst>
              <a:ext uri="{FF2B5EF4-FFF2-40B4-BE49-F238E27FC236}">
                <a16:creationId xmlns:a16="http://schemas.microsoft.com/office/drawing/2014/main" id="{FF567595-5E51-8B29-56DB-8795C6881FBC}"/>
              </a:ext>
            </a:extLst>
          </p:cNvPr>
          <p:cNvSpPr/>
          <p:nvPr/>
        </p:nvSpPr>
        <p:spPr>
          <a:xfrm>
            <a:off x="3713006" y="5678070"/>
            <a:ext cx="110830" cy="110833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5" name="Oval 64">
            <a:extLst>
              <a:ext uri="{FF2B5EF4-FFF2-40B4-BE49-F238E27FC236}">
                <a16:creationId xmlns:a16="http://schemas.microsoft.com/office/drawing/2014/main" id="{67766A13-EFED-489E-26DF-E3FE8CB38844}"/>
              </a:ext>
            </a:extLst>
          </p:cNvPr>
          <p:cNvSpPr/>
          <p:nvPr/>
        </p:nvSpPr>
        <p:spPr>
          <a:xfrm>
            <a:off x="3957763" y="5681529"/>
            <a:ext cx="110830" cy="110833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6" name="Oval 65">
            <a:extLst>
              <a:ext uri="{FF2B5EF4-FFF2-40B4-BE49-F238E27FC236}">
                <a16:creationId xmlns:a16="http://schemas.microsoft.com/office/drawing/2014/main" id="{0111126A-E5AA-7EB5-6317-1A5CF6D283BE}"/>
              </a:ext>
            </a:extLst>
          </p:cNvPr>
          <p:cNvSpPr/>
          <p:nvPr/>
        </p:nvSpPr>
        <p:spPr>
          <a:xfrm>
            <a:off x="4207138" y="5681528"/>
            <a:ext cx="110830" cy="110833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7" name="Oval 66">
            <a:extLst>
              <a:ext uri="{FF2B5EF4-FFF2-40B4-BE49-F238E27FC236}">
                <a16:creationId xmlns:a16="http://schemas.microsoft.com/office/drawing/2014/main" id="{E108F60F-837F-FB3A-FE03-25DC6DCAE50B}"/>
              </a:ext>
            </a:extLst>
          </p:cNvPr>
          <p:cNvSpPr/>
          <p:nvPr/>
        </p:nvSpPr>
        <p:spPr>
          <a:xfrm>
            <a:off x="4456513" y="5681527"/>
            <a:ext cx="110830" cy="110833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DFDAF9CB-F71D-CB55-3437-84637CFD1D91}"/>
              </a:ext>
            </a:extLst>
          </p:cNvPr>
          <p:cNvSpPr txBox="1"/>
          <p:nvPr/>
        </p:nvSpPr>
        <p:spPr>
          <a:xfrm>
            <a:off x="3925455" y="304922"/>
            <a:ext cx="43410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Sales orders in time for different customers</a:t>
            </a:r>
          </a:p>
        </p:txBody>
      </p:sp>
      <p:cxnSp>
        <p:nvCxnSpPr>
          <p:cNvPr id="70" name="Straight Connector 69">
            <a:extLst>
              <a:ext uri="{FF2B5EF4-FFF2-40B4-BE49-F238E27FC236}">
                <a16:creationId xmlns:a16="http://schemas.microsoft.com/office/drawing/2014/main" id="{602728F8-7196-5D08-1317-D007B0173F01}"/>
              </a:ext>
            </a:extLst>
          </p:cNvPr>
          <p:cNvCxnSpPr/>
          <p:nvPr/>
        </p:nvCxnSpPr>
        <p:spPr>
          <a:xfrm flipV="1">
            <a:off x="4567343" y="1948873"/>
            <a:ext cx="0" cy="4488872"/>
          </a:xfrm>
          <a:prstGeom prst="line">
            <a:avLst/>
          </a:prstGeom>
          <a:ln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72" name="Straight Arrow Connector 71">
            <a:extLst>
              <a:ext uri="{FF2B5EF4-FFF2-40B4-BE49-F238E27FC236}">
                <a16:creationId xmlns:a16="http://schemas.microsoft.com/office/drawing/2014/main" id="{CDD32D72-B79F-12BE-1C89-4F746D3D5A1F}"/>
              </a:ext>
            </a:extLst>
          </p:cNvPr>
          <p:cNvCxnSpPr>
            <a:cxnSpLocks/>
            <a:stCxn id="75" idx="1"/>
          </p:cNvCxnSpPr>
          <p:nvPr/>
        </p:nvCxnSpPr>
        <p:spPr>
          <a:xfrm flipH="1">
            <a:off x="4567343" y="1939575"/>
            <a:ext cx="1380875" cy="17093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5" name="TextBox 74">
            <a:extLst>
              <a:ext uri="{FF2B5EF4-FFF2-40B4-BE49-F238E27FC236}">
                <a16:creationId xmlns:a16="http://schemas.microsoft.com/office/drawing/2014/main" id="{107CEBF4-1DD4-200C-9DDE-5CA8EE00F507}"/>
              </a:ext>
            </a:extLst>
          </p:cNvPr>
          <p:cNvSpPr txBox="1"/>
          <p:nvPr/>
        </p:nvSpPr>
        <p:spPr>
          <a:xfrm>
            <a:off x="5948218" y="1754909"/>
            <a:ext cx="7305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Today</a:t>
            </a:r>
          </a:p>
        </p:txBody>
      </p:sp>
      <p:cxnSp>
        <p:nvCxnSpPr>
          <p:cNvPr id="77" name="Straight Connector 76">
            <a:extLst>
              <a:ext uri="{FF2B5EF4-FFF2-40B4-BE49-F238E27FC236}">
                <a16:creationId xmlns:a16="http://schemas.microsoft.com/office/drawing/2014/main" id="{B2B981D3-4689-7F66-AC06-93F59016218C}"/>
              </a:ext>
            </a:extLst>
          </p:cNvPr>
          <p:cNvCxnSpPr/>
          <p:nvPr/>
        </p:nvCxnSpPr>
        <p:spPr>
          <a:xfrm flipV="1">
            <a:off x="3214256" y="1948873"/>
            <a:ext cx="0" cy="4488872"/>
          </a:xfrm>
          <a:prstGeom prst="line">
            <a:avLst/>
          </a:prstGeom>
          <a:ln/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78" name="Straight Arrow Connector 77">
            <a:extLst>
              <a:ext uri="{FF2B5EF4-FFF2-40B4-BE49-F238E27FC236}">
                <a16:creationId xmlns:a16="http://schemas.microsoft.com/office/drawing/2014/main" id="{3C2A597B-0E0E-5FF3-628C-54B8F6FDEDA8}"/>
              </a:ext>
            </a:extLst>
          </p:cNvPr>
          <p:cNvCxnSpPr>
            <a:cxnSpLocks/>
            <a:stCxn id="80" idx="1"/>
          </p:cNvCxnSpPr>
          <p:nvPr/>
        </p:nvCxnSpPr>
        <p:spPr>
          <a:xfrm flipH="1">
            <a:off x="3214255" y="1334594"/>
            <a:ext cx="766573" cy="72505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0" name="TextBox 79">
            <a:extLst>
              <a:ext uri="{FF2B5EF4-FFF2-40B4-BE49-F238E27FC236}">
                <a16:creationId xmlns:a16="http://schemas.microsoft.com/office/drawing/2014/main" id="{B18876B5-9745-6DD1-4F34-2E5066A90E03}"/>
              </a:ext>
            </a:extLst>
          </p:cNvPr>
          <p:cNvSpPr txBox="1"/>
          <p:nvPr/>
        </p:nvSpPr>
        <p:spPr>
          <a:xfrm>
            <a:off x="3980828" y="1149928"/>
            <a:ext cx="15924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Threshold date</a:t>
            </a:r>
          </a:p>
        </p:txBody>
      </p:sp>
    </p:spTree>
    <p:extLst>
      <p:ext uri="{BB962C8B-B14F-4D97-AF65-F5344CB8AC3E}">
        <p14:creationId xmlns:p14="http://schemas.microsoft.com/office/powerpoint/2010/main" val="31102978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82E83D78-776A-6194-85CB-9D7042A2D327}"/>
              </a:ext>
            </a:extLst>
          </p:cNvPr>
          <p:cNvSpPr txBox="1"/>
          <p:nvPr/>
        </p:nvSpPr>
        <p:spPr>
          <a:xfrm>
            <a:off x="0" y="452582"/>
            <a:ext cx="12192001" cy="33198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Customers features based on which we will be making predictions:</a:t>
            </a:r>
          </a:p>
          <a:p>
            <a:pPr marL="742950" marR="0" lvl="1" indent="-28575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Courier New" panose="02070309020205020404" pitchFamily="49" charset="0"/>
              <a:buChar char="o"/>
            </a:pPr>
            <a:r>
              <a:rPr lang="en-US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Recency (the difference in days between last purchase date and the threshold date)</a:t>
            </a:r>
          </a:p>
          <a:p>
            <a:pPr marL="742950" marR="0" lvl="1" indent="-28575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Courier New" panose="02070309020205020404" pitchFamily="49" charset="0"/>
              <a:buChar char="o"/>
            </a:pPr>
            <a:r>
              <a:rPr lang="en-US" sz="1800" kern="1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no_sales</a:t>
            </a:r>
            <a:r>
              <a:rPr lang="en-US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(number of sales orders before the threshold date)</a:t>
            </a:r>
          </a:p>
          <a:p>
            <a:pPr marL="742950" marR="0" lvl="1" indent="-28575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Courier New" panose="02070309020205020404" pitchFamily="49" charset="0"/>
              <a:buChar char="o"/>
            </a:pPr>
            <a:r>
              <a:rPr lang="en-US" sz="1800" kern="1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contact_no_days</a:t>
            </a:r>
            <a:r>
              <a:rPr lang="en-US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(number of days for how long a client was buying from us before the threshold date)</a:t>
            </a:r>
          </a:p>
          <a:p>
            <a:pPr marL="742950" marR="0" lvl="1" indent="-28575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Courier New" panose="02070309020205020404" pitchFamily="49" charset="0"/>
              <a:buChar char="o"/>
            </a:pPr>
            <a:r>
              <a:rPr lang="en-US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frequency (= </a:t>
            </a:r>
            <a:r>
              <a:rPr lang="en-US" sz="1800" kern="1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no_sales</a:t>
            </a:r>
            <a:r>
              <a:rPr lang="en-US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/ </a:t>
            </a:r>
            <a:r>
              <a:rPr lang="en-US" sz="1800" kern="1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contact_no_days</a:t>
            </a:r>
            <a:r>
              <a:rPr lang="en-US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) </a:t>
            </a:r>
          </a:p>
          <a:p>
            <a:pPr marL="742950" marR="0" lvl="1" indent="-28575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Courier New" panose="02070309020205020404" pitchFamily="49" charset="0"/>
              <a:buChar char="o"/>
            </a:pPr>
            <a:r>
              <a:rPr lang="en-US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monetary value (the total revenue from before the threshold date)</a:t>
            </a:r>
          </a:p>
          <a:p>
            <a:pPr marL="742950" marR="0" lvl="1" indent="-28575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Courier New" panose="02070309020205020404" pitchFamily="49" charset="0"/>
              <a:buChar char="o"/>
            </a:pPr>
            <a:endParaRPr lang="en-US" kern="1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R="0" lvl="1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endParaRPr lang="en-US" kern="1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</a:pPr>
            <a:r>
              <a:rPr lang="en-US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What we will be predicting:</a:t>
            </a:r>
            <a:endParaRPr lang="en-US" kern="1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742950" lvl="1" indent="-285750">
              <a:lnSpc>
                <a:spcPct val="107000"/>
              </a:lnSpc>
              <a:buFont typeface="Arial" panose="020B0604020202020204" pitchFamily="34" charset="0"/>
              <a:buChar char="•"/>
            </a:pPr>
            <a:r>
              <a:rPr lang="en-US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To which future revenue cluster a customer belongs. Those clusters are created </a:t>
            </a:r>
            <a:r>
              <a:rPr lang="en-US" kern="1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based on the r</a:t>
            </a:r>
            <a:r>
              <a:rPr lang="en-US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evenue for the next 3 months (after the threshold date)</a:t>
            </a:r>
          </a:p>
        </p:txBody>
      </p:sp>
    </p:spTree>
    <p:extLst>
      <p:ext uri="{BB962C8B-B14F-4D97-AF65-F5344CB8AC3E}">
        <p14:creationId xmlns:p14="http://schemas.microsoft.com/office/powerpoint/2010/main" val="119417728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DC46D892-1BFF-ADAD-6757-A25314C657CB}"/>
              </a:ext>
            </a:extLst>
          </p:cNvPr>
          <p:cNvCxnSpPr/>
          <p:nvPr/>
        </p:nvCxnSpPr>
        <p:spPr>
          <a:xfrm>
            <a:off x="720437" y="2576945"/>
            <a:ext cx="4553527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7065DDE8-B17C-0CE3-DBF4-6648EA598BFC}"/>
              </a:ext>
            </a:extLst>
          </p:cNvPr>
          <p:cNvCxnSpPr/>
          <p:nvPr/>
        </p:nvCxnSpPr>
        <p:spPr>
          <a:xfrm>
            <a:off x="988292" y="2456872"/>
            <a:ext cx="0" cy="22167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45239D98-8C78-007E-75AD-B9E1987180DC}"/>
              </a:ext>
            </a:extLst>
          </p:cNvPr>
          <p:cNvCxnSpPr/>
          <p:nvPr/>
        </p:nvCxnSpPr>
        <p:spPr>
          <a:xfrm>
            <a:off x="2073565" y="2456872"/>
            <a:ext cx="0" cy="22167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AF566A74-AE0C-EC5B-2F50-FC864D08CD26}"/>
              </a:ext>
            </a:extLst>
          </p:cNvPr>
          <p:cNvCxnSpPr/>
          <p:nvPr/>
        </p:nvCxnSpPr>
        <p:spPr>
          <a:xfrm>
            <a:off x="3038765" y="2456872"/>
            <a:ext cx="0" cy="22167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4CC3DB13-257B-1426-A758-C75D24483EAA}"/>
              </a:ext>
            </a:extLst>
          </p:cNvPr>
          <p:cNvCxnSpPr/>
          <p:nvPr/>
        </p:nvCxnSpPr>
        <p:spPr>
          <a:xfrm>
            <a:off x="4133274" y="2452254"/>
            <a:ext cx="0" cy="22167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F31A9CB0-D3D9-9223-607A-20D61333ED81}"/>
              </a:ext>
            </a:extLst>
          </p:cNvPr>
          <p:cNvCxnSpPr/>
          <p:nvPr/>
        </p:nvCxnSpPr>
        <p:spPr>
          <a:xfrm>
            <a:off x="720437" y="3828472"/>
            <a:ext cx="4553527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CD461C0C-279A-0956-56D7-8060EABB6955}"/>
              </a:ext>
            </a:extLst>
          </p:cNvPr>
          <p:cNvCxnSpPr/>
          <p:nvPr/>
        </p:nvCxnSpPr>
        <p:spPr>
          <a:xfrm>
            <a:off x="988292" y="3708399"/>
            <a:ext cx="0" cy="22167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9C2C4D7F-2EFA-2BC9-1506-06BC9E229B81}"/>
              </a:ext>
            </a:extLst>
          </p:cNvPr>
          <p:cNvCxnSpPr/>
          <p:nvPr/>
        </p:nvCxnSpPr>
        <p:spPr>
          <a:xfrm>
            <a:off x="2073565" y="3708399"/>
            <a:ext cx="0" cy="22167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14B8C776-FE2F-FD2E-07C0-5240EBD64A7C}"/>
              </a:ext>
            </a:extLst>
          </p:cNvPr>
          <p:cNvCxnSpPr/>
          <p:nvPr/>
        </p:nvCxnSpPr>
        <p:spPr>
          <a:xfrm>
            <a:off x="3038765" y="3708399"/>
            <a:ext cx="0" cy="22167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9AEFCACC-7FD8-82FF-7129-23232454E757}"/>
              </a:ext>
            </a:extLst>
          </p:cNvPr>
          <p:cNvCxnSpPr/>
          <p:nvPr/>
        </p:nvCxnSpPr>
        <p:spPr>
          <a:xfrm>
            <a:off x="4133274" y="3703781"/>
            <a:ext cx="0" cy="22167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34A0BE39-C33F-B48C-F2F1-8ECF62AE44B5}"/>
              </a:ext>
            </a:extLst>
          </p:cNvPr>
          <p:cNvCxnSpPr/>
          <p:nvPr/>
        </p:nvCxnSpPr>
        <p:spPr>
          <a:xfrm>
            <a:off x="720437" y="5140036"/>
            <a:ext cx="4553527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EF1CB9E9-89FC-CCD9-9291-E3E1472401CB}"/>
              </a:ext>
            </a:extLst>
          </p:cNvPr>
          <p:cNvCxnSpPr/>
          <p:nvPr/>
        </p:nvCxnSpPr>
        <p:spPr>
          <a:xfrm>
            <a:off x="988292" y="5019963"/>
            <a:ext cx="0" cy="22167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72AEF191-205D-00F6-27C0-E6DA5C6EB9D7}"/>
              </a:ext>
            </a:extLst>
          </p:cNvPr>
          <p:cNvCxnSpPr/>
          <p:nvPr/>
        </p:nvCxnSpPr>
        <p:spPr>
          <a:xfrm>
            <a:off x="2073565" y="5019963"/>
            <a:ext cx="0" cy="22167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AEFDEAF4-6DFD-938A-CFD9-A6597C6CE193}"/>
              </a:ext>
            </a:extLst>
          </p:cNvPr>
          <p:cNvCxnSpPr/>
          <p:nvPr/>
        </p:nvCxnSpPr>
        <p:spPr>
          <a:xfrm>
            <a:off x="3038765" y="5019963"/>
            <a:ext cx="0" cy="22167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2F955468-2B4A-BEB8-2F11-7EF503166FF1}"/>
              </a:ext>
            </a:extLst>
          </p:cNvPr>
          <p:cNvCxnSpPr/>
          <p:nvPr/>
        </p:nvCxnSpPr>
        <p:spPr>
          <a:xfrm>
            <a:off x="4133274" y="5015345"/>
            <a:ext cx="0" cy="22167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9862929D-22AB-48C7-CCDB-FF9877B1863E}"/>
              </a:ext>
            </a:extLst>
          </p:cNvPr>
          <p:cNvCxnSpPr/>
          <p:nvPr/>
        </p:nvCxnSpPr>
        <p:spPr>
          <a:xfrm>
            <a:off x="762001" y="6183745"/>
            <a:ext cx="4553527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E291F9FA-8112-1123-F8BF-BB09C8B8F292}"/>
              </a:ext>
            </a:extLst>
          </p:cNvPr>
          <p:cNvCxnSpPr/>
          <p:nvPr/>
        </p:nvCxnSpPr>
        <p:spPr>
          <a:xfrm>
            <a:off x="1029856" y="6063672"/>
            <a:ext cx="0" cy="22167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3C83D495-A46C-B3D7-D43E-97DC1DF69E5C}"/>
              </a:ext>
            </a:extLst>
          </p:cNvPr>
          <p:cNvCxnSpPr/>
          <p:nvPr/>
        </p:nvCxnSpPr>
        <p:spPr>
          <a:xfrm>
            <a:off x="2115129" y="6063672"/>
            <a:ext cx="0" cy="22167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B00EF4C9-ADB3-0F2D-7BBC-CEAB9F8393C3}"/>
              </a:ext>
            </a:extLst>
          </p:cNvPr>
          <p:cNvCxnSpPr/>
          <p:nvPr/>
        </p:nvCxnSpPr>
        <p:spPr>
          <a:xfrm>
            <a:off x="3080329" y="6063672"/>
            <a:ext cx="0" cy="22167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4841ED2D-E7BF-3339-DD32-59F83F2E9073}"/>
              </a:ext>
            </a:extLst>
          </p:cNvPr>
          <p:cNvCxnSpPr/>
          <p:nvPr/>
        </p:nvCxnSpPr>
        <p:spPr>
          <a:xfrm>
            <a:off x="4174838" y="6059054"/>
            <a:ext cx="0" cy="22167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Oval 25">
            <a:extLst>
              <a:ext uri="{FF2B5EF4-FFF2-40B4-BE49-F238E27FC236}">
                <a16:creationId xmlns:a16="http://schemas.microsoft.com/office/drawing/2014/main" id="{9373054E-C7A7-74DD-AE7D-FA04921737DE}"/>
              </a:ext>
            </a:extLst>
          </p:cNvPr>
          <p:cNvSpPr/>
          <p:nvPr/>
        </p:nvSpPr>
        <p:spPr>
          <a:xfrm>
            <a:off x="919026" y="2110512"/>
            <a:ext cx="110830" cy="110833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AB3E917F-725D-E186-BBF1-6901E3D42849}"/>
              </a:ext>
            </a:extLst>
          </p:cNvPr>
          <p:cNvSpPr/>
          <p:nvPr/>
        </p:nvSpPr>
        <p:spPr>
          <a:xfrm>
            <a:off x="1168401" y="2110511"/>
            <a:ext cx="110830" cy="110833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284322A4-0AE7-5FC6-D1B3-66113F7A1174}"/>
              </a:ext>
            </a:extLst>
          </p:cNvPr>
          <p:cNvSpPr/>
          <p:nvPr/>
        </p:nvSpPr>
        <p:spPr>
          <a:xfrm>
            <a:off x="1417776" y="2110510"/>
            <a:ext cx="110830" cy="110833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D5DF90E3-5A0A-7802-1755-A792143D3A65}"/>
              </a:ext>
            </a:extLst>
          </p:cNvPr>
          <p:cNvSpPr/>
          <p:nvPr/>
        </p:nvSpPr>
        <p:spPr>
          <a:xfrm>
            <a:off x="1667151" y="2110512"/>
            <a:ext cx="110830" cy="110833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F1248C94-1B7E-A50E-6C77-1C3BBB45CD1B}"/>
              </a:ext>
            </a:extLst>
          </p:cNvPr>
          <p:cNvSpPr/>
          <p:nvPr/>
        </p:nvSpPr>
        <p:spPr>
          <a:xfrm>
            <a:off x="1916526" y="2110511"/>
            <a:ext cx="110830" cy="110833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951D517A-3F80-945B-76A1-9EDC8F198925}"/>
              </a:ext>
            </a:extLst>
          </p:cNvPr>
          <p:cNvSpPr/>
          <p:nvPr/>
        </p:nvSpPr>
        <p:spPr>
          <a:xfrm>
            <a:off x="2165901" y="2110510"/>
            <a:ext cx="110830" cy="110833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82B41452-CB67-CC43-8E7D-AA129616F625}"/>
              </a:ext>
            </a:extLst>
          </p:cNvPr>
          <p:cNvSpPr/>
          <p:nvPr/>
        </p:nvSpPr>
        <p:spPr>
          <a:xfrm>
            <a:off x="919026" y="3371270"/>
            <a:ext cx="110830" cy="110833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AD9E1099-C754-7907-868A-9A4F0A643FA6}"/>
              </a:ext>
            </a:extLst>
          </p:cNvPr>
          <p:cNvSpPr/>
          <p:nvPr/>
        </p:nvSpPr>
        <p:spPr>
          <a:xfrm>
            <a:off x="1168401" y="3371269"/>
            <a:ext cx="110830" cy="110833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2F3930A2-5608-19CB-5D18-66381B9D3531}"/>
              </a:ext>
            </a:extLst>
          </p:cNvPr>
          <p:cNvSpPr/>
          <p:nvPr/>
        </p:nvSpPr>
        <p:spPr>
          <a:xfrm>
            <a:off x="1417776" y="3371268"/>
            <a:ext cx="110830" cy="110833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BD0E9A23-A97D-08FE-12B5-D00BF0ECE532}"/>
              </a:ext>
            </a:extLst>
          </p:cNvPr>
          <p:cNvSpPr/>
          <p:nvPr/>
        </p:nvSpPr>
        <p:spPr>
          <a:xfrm>
            <a:off x="1667151" y="3371270"/>
            <a:ext cx="110830" cy="110833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75FEE90B-38FF-F3F7-A59F-DC51171C7215}"/>
              </a:ext>
            </a:extLst>
          </p:cNvPr>
          <p:cNvSpPr/>
          <p:nvPr/>
        </p:nvSpPr>
        <p:spPr>
          <a:xfrm>
            <a:off x="1916526" y="3371269"/>
            <a:ext cx="110830" cy="110833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3703DFC4-B284-11C5-3EB7-546DD8032B8D}"/>
              </a:ext>
            </a:extLst>
          </p:cNvPr>
          <p:cNvSpPr/>
          <p:nvPr/>
        </p:nvSpPr>
        <p:spPr>
          <a:xfrm>
            <a:off x="2165901" y="3371268"/>
            <a:ext cx="110830" cy="110833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D0B9527C-B05B-4D34-7617-C16175EEA6F9}"/>
              </a:ext>
            </a:extLst>
          </p:cNvPr>
          <p:cNvSpPr/>
          <p:nvPr/>
        </p:nvSpPr>
        <p:spPr>
          <a:xfrm>
            <a:off x="2415276" y="3371270"/>
            <a:ext cx="110830" cy="110833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Oval 38">
            <a:extLst>
              <a:ext uri="{FF2B5EF4-FFF2-40B4-BE49-F238E27FC236}">
                <a16:creationId xmlns:a16="http://schemas.microsoft.com/office/drawing/2014/main" id="{71DCB054-6CBF-87FF-F641-9D06FB008080}"/>
              </a:ext>
            </a:extLst>
          </p:cNvPr>
          <p:cNvSpPr/>
          <p:nvPr/>
        </p:nvSpPr>
        <p:spPr>
          <a:xfrm>
            <a:off x="2664651" y="3371269"/>
            <a:ext cx="110830" cy="110833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Oval 39">
            <a:extLst>
              <a:ext uri="{FF2B5EF4-FFF2-40B4-BE49-F238E27FC236}">
                <a16:creationId xmlns:a16="http://schemas.microsoft.com/office/drawing/2014/main" id="{D367AF03-AC17-4BA9-47F7-DEC3FE547C95}"/>
              </a:ext>
            </a:extLst>
          </p:cNvPr>
          <p:cNvSpPr/>
          <p:nvPr/>
        </p:nvSpPr>
        <p:spPr>
          <a:xfrm>
            <a:off x="2914026" y="3371268"/>
            <a:ext cx="110830" cy="110833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Oval 40">
            <a:extLst>
              <a:ext uri="{FF2B5EF4-FFF2-40B4-BE49-F238E27FC236}">
                <a16:creationId xmlns:a16="http://schemas.microsoft.com/office/drawing/2014/main" id="{EE45EA17-068F-EFA7-59B9-0BFAD5133184}"/>
              </a:ext>
            </a:extLst>
          </p:cNvPr>
          <p:cNvSpPr/>
          <p:nvPr/>
        </p:nvSpPr>
        <p:spPr>
          <a:xfrm>
            <a:off x="932935" y="4537349"/>
            <a:ext cx="110830" cy="110833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Oval 41">
            <a:extLst>
              <a:ext uri="{FF2B5EF4-FFF2-40B4-BE49-F238E27FC236}">
                <a16:creationId xmlns:a16="http://schemas.microsoft.com/office/drawing/2014/main" id="{AD4E62EE-647A-E362-ECAA-083C72F431E3}"/>
              </a:ext>
            </a:extLst>
          </p:cNvPr>
          <p:cNvSpPr/>
          <p:nvPr/>
        </p:nvSpPr>
        <p:spPr>
          <a:xfrm>
            <a:off x="1182310" y="4537348"/>
            <a:ext cx="110830" cy="110833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Oval 42">
            <a:extLst>
              <a:ext uri="{FF2B5EF4-FFF2-40B4-BE49-F238E27FC236}">
                <a16:creationId xmlns:a16="http://schemas.microsoft.com/office/drawing/2014/main" id="{9C393417-5D6B-511D-1EE8-252E5F43E012}"/>
              </a:ext>
            </a:extLst>
          </p:cNvPr>
          <p:cNvSpPr/>
          <p:nvPr/>
        </p:nvSpPr>
        <p:spPr>
          <a:xfrm>
            <a:off x="1431685" y="4537347"/>
            <a:ext cx="110830" cy="110833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Oval 43">
            <a:extLst>
              <a:ext uri="{FF2B5EF4-FFF2-40B4-BE49-F238E27FC236}">
                <a16:creationId xmlns:a16="http://schemas.microsoft.com/office/drawing/2014/main" id="{29145FED-F195-8461-6B3A-7045C33359B4}"/>
              </a:ext>
            </a:extLst>
          </p:cNvPr>
          <p:cNvSpPr/>
          <p:nvPr/>
        </p:nvSpPr>
        <p:spPr>
          <a:xfrm>
            <a:off x="1681060" y="4537349"/>
            <a:ext cx="110830" cy="110833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Oval 44">
            <a:extLst>
              <a:ext uri="{FF2B5EF4-FFF2-40B4-BE49-F238E27FC236}">
                <a16:creationId xmlns:a16="http://schemas.microsoft.com/office/drawing/2014/main" id="{75FD3F8F-C585-7C3F-EB22-BB30D11A47C2}"/>
              </a:ext>
            </a:extLst>
          </p:cNvPr>
          <p:cNvSpPr/>
          <p:nvPr/>
        </p:nvSpPr>
        <p:spPr>
          <a:xfrm>
            <a:off x="1930435" y="4537348"/>
            <a:ext cx="110830" cy="110833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Oval 45">
            <a:extLst>
              <a:ext uri="{FF2B5EF4-FFF2-40B4-BE49-F238E27FC236}">
                <a16:creationId xmlns:a16="http://schemas.microsoft.com/office/drawing/2014/main" id="{924CB8D4-9637-AB8B-4444-23E55A138F20}"/>
              </a:ext>
            </a:extLst>
          </p:cNvPr>
          <p:cNvSpPr/>
          <p:nvPr/>
        </p:nvSpPr>
        <p:spPr>
          <a:xfrm>
            <a:off x="2179810" y="4537347"/>
            <a:ext cx="110830" cy="110833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Oval 46">
            <a:extLst>
              <a:ext uri="{FF2B5EF4-FFF2-40B4-BE49-F238E27FC236}">
                <a16:creationId xmlns:a16="http://schemas.microsoft.com/office/drawing/2014/main" id="{D73DCAC4-0BC2-CCED-B2A7-77F42BF12424}"/>
              </a:ext>
            </a:extLst>
          </p:cNvPr>
          <p:cNvSpPr/>
          <p:nvPr/>
        </p:nvSpPr>
        <p:spPr>
          <a:xfrm>
            <a:off x="2429185" y="4537349"/>
            <a:ext cx="110830" cy="110833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Oval 47">
            <a:extLst>
              <a:ext uri="{FF2B5EF4-FFF2-40B4-BE49-F238E27FC236}">
                <a16:creationId xmlns:a16="http://schemas.microsoft.com/office/drawing/2014/main" id="{1BA523A9-3D1A-6AC7-C9A0-C056BF054D0F}"/>
              </a:ext>
            </a:extLst>
          </p:cNvPr>
          <p:cNvSpPr/>
          <p:nvPr/>
        </p:nvSpPr>
        <p:spPr>
          <a:xfrm>
            <a:off x="2678560" y="4537348"/>
            <a:ext cx="110830" cy="110833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Oval 48">
            <a:extLst>
              <a:ext uri="{FF2B5EF4-FFF2-40B4-BE49-F238E27FC236}">
                <a16:creationId xmlns:a16="http://schemas.microsoft.com/office/drawing/2014/main" id="{A67BDB24-3066-D68E-C605-DEE38E9FC973}"/>
              </a:ext>
            </a:extLst>
          </p:cNvPr>
          <p:cNvSpPr/>
          <p:nvPr/>
        </p:nvSpPr>
        <p:spPr>
          <a:xfrm>
            <a:off x="2927935" y="4537347"/>
            <a:ext cx="110830" cy="110833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Oval 49">
            <a:extLst>
              <a:ext uri="{FF2B5EF4-FFF2-40B4-BE49-F238E27FC236}">
                <a16:creationId xmlns:a16="http://schemas.microsoft.com/office/drawing/2014/main" id="{55187A19-71BC-EBBE-AB48-F727995F2027}"/>
              </a:ext>
            </a:extLst>
          </p:cNvPr>
          <p:cNvSpPr/>
          <p:nvPr/>
        </p:nvSpPr>
        <p:spPr>
          <a:xfrm>
            <a:off x="974499" y="5678075"/>
            <a:ext cx="110830" cy="110833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Oval 50">
            <a:extLst>
              <a:ext uri="{FF2B5EF4-FFF2-40B4-BE49-F238E27FC236}">
                <a16:creationId xmlns:a16="http://schemas.microsoft.com/office/drawing/2014/main" id="{0556C1E5-6F79-7344-F6DE-229056171859}"/>
              </a:ext>
            </a:extLst>
          </p:cNvPr>
          <p:cNvSpPr/>
          <p:nvPr/>
        </p:nvSpPr>
        <p:spPr>
          <a:xfrm>
            <a:off x="1223874" y="5678074"/>
            <a:ext cx="110830" cy="110833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Oval 51">
            <a:extLst>
              <a:ext uri="{FF2B5EF4-FFF2-40B4-BE49-F238E27FC236}">
                <a16:creationId xmlns:a16="http://schemas.microsoft.com/office/drawing/2014/main" id="{9ABE269D-823F-2A21-F273-88786746D001}"/>
              </a:ext>
            </a:extLst>
          </p:cNvPr>
          <p:cNvSpPr/>
          <p:nvPr/>
        </p:nvSpPr>
        <p:spPr>
          <a:xfrm>
            <a:off x="1473249" y="5678073"/>
            <a:ext cx="110830" cy="110833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Oval 52">
            <a:extLst>
              <a:ext uri="{FF2B5EF4-FFF2-40B4-BE49-F238E27FC236}">
                <a16:creationId xmlns:a16="http://schemas.microsoft.com/office/drawing/2014/main" id="{E6B43532-C432-F8F4-5982-7AFCBF5CB00C}"/>
              </a:ext>
            </a:extLst>
          </p:cNvPr>
          <p:cNvSpPr/>
          <p:nvPr/>
        </p:nvSpPr>
        <p:spPr>
          <a:xfrm>
            <a:off x="1722624" y="5678075"/>
            <a:ext cx="110830" cy="110833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" name="Oval 53">
            <a:extLst>
              <a:ext uri="{FF2B5EF4-FFF2-40B4-BE49-F238E27FC236}">
                <a16:creationId xmlns:a16="http://schemas.microsoft.com/office/drawing/2014/main" id="{215CE6FC-EC02-9E80-5134-AA7B579FA0DA}"/>
              </a:ext>
            </a:extLst>
          </p:cNvPr>
          <p:cNvSpPr/>
          <p:nvPr/>
        </p:nvSpPr>
        <p:spPr>
          <a:xfrm>
            <a:off x="1971999" y="5678074"/>
            <a:ext cx="110830" cy="110833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" name="Oval 54">
            <a:extLst>
              <a:ext uri="{FF2B5EF4-FFF2-40B4-BE49-F238E27FC236}">
                <a16:creationId xmlns:a16="http://schemas.microsoft.com/office/drawing/2014/main" id="{3707F25E-B781-8DFC-14BC-1EBAC33E6786}"/>
              </a:ext>
            </a:extLst>
          </p:cNvPr>
          <p:cNvSpPr/>
          <p:nvPr/>
        </p:nvSpPr>
        <p:spPr>
          <a:xfrm>
            <a:off x="2221374" y="5678073"/>
            <a:ext cx="110830" cy="110833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Oval 55">
            <a:extLst>
              <a:ext uri="{FF2B5EF4-FFF2-40B4-BE49-F238E27FC236}">
                <a16:creationId xmlns:a16="http://schemas.microsoft.com/office/drawing/2014/main" id="{FB872F89-99C8-0EDD-3C05-2FEC2DA2885C}"/>
              </a:ext>
            </a:extLst>
          </p:cNvPr>
          <p:cNvSpPr/>
          <p:nvPr/>
        </p:nvSpPr>
        <p:spPr>
          <a:xfrm>
            <a:off x="2470749" y="5678075"/>
            <a:ext cx="110830" cy="110833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" name="Oval 56">
            <a:extLst>
              <a:ext uri="{FF2B5EF4-FFF2-40B4-BE49-F238E27FC236}">
                <a16:creationId xmlns:a16="http://schemas.microsoft.com/office/drawing/2014/main" id="{F599627D-120A-7C2E-91CC-233A6E4C3C9D}"/>
              </a:ext>
            </a:extLst>
          </p:cNvPr>
          <p:cNvSpPr/>
          <p:nvPr/>
        </p:nvSpPr>
        <p:spPr>
          <a:xfrm>
            <a:off x="2720124" y="5678074"/>
            <a:ext cx="110830" cy="110833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" name="Oval 57">
            <a:extLst>
              <a:ext uri="{FF2B5EF4-FFF2-40B4-BE49-F238E27FC236}">
                <a16:creationId xmlns:a16="http://schemas.microsoft.com/office/drawing/2014/main" id="{D110D9C5-A93B-9B04-64CF-5DAC5FDB723D}"/>
              </a:ext>
            </a:extLst>
          </p:cNvPr>
          <p:cNvSpPr/>
          <p:nvPr/>
        </p:nvSpPr>
        <p:spPr>
          <a:xfrm>
            <a:off x="2969499" y="5678073"/>
            <a:ext cx="110830" cy="110833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" name="Oval 58">
            <a:extLst>
              <a:ext uri="{FF2B5EF4-FFF2-40B4-BE49-F238E27FC236}">
                <a16:creationId xmlns:a16="http://schemas.microsoft.com/office/drawing/2014/main" id="{186FBCB7-B6D0-777D-9255-1FCBAB77A198}"/>
              </a:ext>
            </a:extLst>
          </p:cNvPr>
          <p:cNvSpPr/>
          <p:nvPr/>
        </p:nvSpPr>
        <p:spPr>
          <a:xfrm>
            <a:off x="3177310" y="4546583"/>
            <a:ext cx="110830" cy="110833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0" name="Oval 59">
            <a:extLst>
              <a:ext uri="{FF2B5EF4-FFF2-40B4-BE49-F238E27FC236}">
                <a16:creationId xmlns:a16="http://schemas.microsoft.com/office/drawing/2014/main" id="{46BD1BC5-3711-6FE7-B0D1-1B0C537C8F0E}"/>
              </a:ext>
            </a:extLst>
          </p:cNvPr>
          <p:cNvSpPr/>
          <p:nvPr/>
        </p:nvSpPr>
        <p:spPr>
          <a:xfrm>
            <a:off x="3426685" y="4546582"/>
            <a:ext cx="110830" cy="110833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" name="Oval 60">
            <a:extLst>
              <a:ext uri="{FF2B5EF4-FFF2-40B4-BE49-F238E27FC236}">
                <a16:creationId xmlns:a16="http://schemas.microsoft.com/office/drawing/2014/main" id="{1DD3CC81-987C-CE0C-5165-341EC87CD1E2}"/>
              </a:ext>
            </a:extLst>
          </p:cNvPr>
          <p:cNvSpPr/>
          <p:nvPr/>
        </p:nvSpPr>
        <p:spPr>
          <a:xfrm>
            <a:off x="3676060" y="4546581"/>
            <a:ext cx="110830" cy="110833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2" name="Oval 61">
            <a:extLst>
              <a:ext uri="{FF2B5EF4-FFF2-40B4-BE49-F238E27FC236}">
                <a16:creationId xmlns:a16="http://schemas.microsoft.com/office/drawing/2014/main" id="{86E18316-D9EA-A124-DADA-227137C74290}"/>
              </a:ext>
            </a:extLst>
          </p:cNvPr>
          <p:cNvSpPr/>
          <p:nvPr/>
        </p:nvSpPr>
        <p:spPr>
          <a:xfrm>
            <a:off x="3214256" y="5678072"/>
            <a:ext cx="110830" cy="110833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3" name="Oval 62">
            <a:extLst>
              <a:ext uri="{FF2B5EF4-FFF2-40B4-BE49-F238E27FC236}">
                <a16:creationId xmlns:a16="http://schemas.microsoft.com/office/drawing/2014/main" id="{572FCE86-A1F9-D922-A752-047732DB5F86}"/>
              </a:ext>
            </a:extLst>
          </p:cNvPr>
          <p:cNvSpPr/>
          <p:nvPr/>
        </p:nvSpPr>
        <p:spPr>
          <a:xfrm>
            <a:off x="3463631" y="5678071"/>
            <a:ext cx="110830" cy="110833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4" name="Oval 63">
            <a:extLst>
              <a:ext uri="{FF2B5EF4-FFF2-40B4-BE49-F238E27FC236}">
                <a16:creationId xmlns:a16="http://schemas.microsoft.com/office/drawing/2014/main" id="{FF567595-5E51-8B29-56DB-8795C6881FBC}"/>
              </a:ext>
            </a:extLst>
          </p:cNvPr>
          <p:cNvSpPr/>
          <p:nvPr/>
        </p:nvSpPr>
        <p:spPr>
          <a:xfrm>
            <a:off x="3713006" y="5678070"/>
            <a:ext cx="110830" cy="110833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5" name="Oval 64">
            <a:extLst>
              <a:ext uri="{FF2B5EF4-FFF2-40B4-BE49-F238E27FC236}">
                <a16:creationId xmlns:a16="http://schemas.microsoft.com/office/drawing/2014/main" id="{67766A13-EFED-489E-26DF-E3FE8CB38844}"/>
              </a:ext>
            </a:extLst>
          </p:cNvPr>
          <p:cNvSpPr/>
          <p:nvPr/>
        </p:nvSpPr>
        <p:spPr>
          <a:xfrm>
            <a:off x="3957763" y="5681529"/>
            <a:ext cx="110830" cy="110833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6" name="Oval 65">
            <a:extLst>
              <a:ext uri="{FF2B5EF4-FFF2-40B4-BE49-F238E27FC236}">
                <a16:creationId xmlns:a16="http://schemas.microsoft.com/office/drawing/2014/main" id="{0111126A-E5AA-7EB5-6317-1A5CF6D283BE}"/>
              </a:ext>
            </a:extLst>
          </p:cNvPr>
          <p:cNvSpPr/>
          <p:nvPr/>
        </p:nvSpPr>
        <p:spPr>
          <a:xfrm>
            <a:off x="4207138" y="5681528"/>
            <a:ext cx="110830" cy="110833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7" name="Oval 66">
            <a:extLst>
              <a:ext uri="{FF2B5EF4-FFF2-40B4-BE49-F238E27FC236}">
                <a16:creationId xmlns:a16="http://schemas.microsoft.com/office/drawing/2014/main" id="{E108F60F-837F-FB3A-FE03-25DC6DCAE50B}"/>
              </a:ext>
            </a:extLst>
          </p:cNvPr>
          <p:cNvSpPr/>
          <p:nvPr/>
        </p:nvSpPr>
        <p:spPr>
          <a:xfrm>
            <a:off x="4456513" y="5681527"/>
            <a:ext cx="110830" cy="110833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DFDAF9CB-F71D-CB55-3437-84637CFD1D91}"/>
              </a:ext>
            </a:extLst>
          </p:cNvPr>
          <p:cNvSpPr txBox="1"/>
          <p:nvPr/>
        </p:nvSpPr>
        <p:spPr>
          <a:xfrm>
            <a:off x="3925455" y="304922"/>
            <a:ext cx="43410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Sales orders in time for different customers</a:t>
            </a:r>
          </a:p>
        </p:txBody>
      </p:sp>
      <p:cxnSp>
        <p:nvCxnSpPr>
          <p:cNvPr id="70" name="Straight Connector 69">
            <a:extLst>
              <a:ext uri="{FF2B5EF4-FFF2-40B4-BE49-F238E27FC236}">
                <a16:creationId xmlns:a16="http://schemas.microsoft.com/office/drawing/2014/main" id="{602728F8-7196-5D08-1317-D007B0173F01}"/>
              </a:ext>
            </a:extLst>
          </p:cNvPr>
          <p:cNvCxnSpPr/>
          <p:nvPr/>
        </p:nvCxnSpPr>
        <p:spPr>
          <a:xfrm flipV="1">
            <a:off x="4567343" y="1948873"/>
            <a:ext cx="0" cy="4488872"/>
          </a:xfrm>
          <a:prstGeom prst="line">
            <a:avLst/>
          </a:prstGeom>
          <a:ln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72" name="Straight Arrow Connector 71">
            <a:extLst>
              <a:ext uri="{FF2B5EF4-FFF2-40B4-BE49-F238E27FC236}">
                <a16:creationId xmlns:a16="http://schemas.microsoft.com/office/drawing/2014/main" id="{CDD32D72-B79F-12BE-1C89-4F746D3D5A1F}"/>
              </a:ext>
            </a:extLst>
          </p:cNvPr>
          <p:cNvCxnSpPr>
            <a:cxnSpLocks/>
            <a:stCxn id="75" idx="1"/>
          </p:cNvCxnSpPr>
          <p:nvPr/>
        </p:nvCxnSpPr>
        <p:spPr>
          <a:xfrm flipH="1" flipV="1">
            <a:off x="5421745" y="2221343"/>
            <a:ext cx="845062" cy="87747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5" name="TextBox 74">
            <a:extLst>
              <a:ext uri="{FF2B5EF4-FFF2-40B4-BE49-F238E27FC236}">
                <a16:creationId xmlns:a16="http://schemas.microsoft.com/office/drawing/2014/main" id="{107CEBF4-1DD4-200C-9DDE-5CA8EE00F507}"/>
              </a:ext>
            </a:extLst>
          </p:cNvPr>
          <p:cNvSpPr txBox="1"/>
          <p:nvPr/>
        </p:nvSpPr>
        <p:spPr>
          <a:xfrm>
            <a:off x="6266807" y="2775649"/>
            <a:ext cx="592519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For those customers there is no revenue to predict because there are no sales orders after the threshold date</a:t>
            </a:r>
          </a:p>
        </p:txBody>
      </p:sp>
      <p:cxnSp>
        <p:nvCxnSpPr>
          <p:cNvPr id="77" name="Straight Connector 76">
            <a:extLst>
              <a:ext uri="{FF2B5EF4-FFF2-40B4-BE49-F238E27FC236}">
                <a16:creationId xmlns:a16="http://schemas.microsoft.com/office/drawing/2014/main" id="{B2B981D3-4689-7F66-AC06-93F59016218C}"/>
              </a:ext>
            </a:extLst>
          </p:cNvPr>
          <p:cNvCxnSpPr/>
          <p:nvPr/>
        </p:nvCxnSpPr>
        <p:spPr>
          <a:xfrm flipV="1">
            <a:off x="3214256" y="1948873"/>
            <a:ext cx="0" cy="4488872"/>
          </a:xfrm>
          <a:prstGeom prst="line">
            <a:avLst/>
          </a:prstGeom>
          <a:ln/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7DF1970B-20CF-5CF7-46E1-19429383D2C4}"/>
              </a:ext>
            </a:extLst>
          </p:cNvPr>
          <p:cNvCxnSpPr>
            <a:cxnSpLocks/>
            <a:stCxn id="75" idx="1"/>
          </p:cNvCxnSpPr>
          <p:nvPr/>
        </p:nvCxnSpPr>
        <p:spPr>
          <a:xfrm flipH="1">
            <a:off x="5343184" y="3098815"/>
            <a:ext cx="923623" cy="27245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9916086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DC46D892-1BFF-ADAD-6757-A25314C657CB}"/>
              </a:ext>
            </a:extLst>
          </p:cNvPr>
          <p:cNvCxnSpPr/>
          <p:nvPr/>
        </p:nvCxnSpPr>
        <p:spPr>
          <a:xfrm>
            <a:off x="720437" y="2576945"/>
            <a:ext cx="4553527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7065DDE8-B17C-0CE3-DBF4-6648EA598BFC}"/>
              </a:ext>
            </a:extLst>
          </p:cNvPr>
          <p:cNvCxnSpPr/>
          <p:nvPr/>
        </p:nvCxnSpPr>
        <p:spPr>
          <a:xfrm>
            <a:off x="988292" y="2456872"/>
            <a:ext cx="0" cy="22167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45239D98-8C78-007E-75AD-B9E1987180DC}"/>
              </a:ext>
            </a:extLst>
          </p:cNvPr>
          <p:cNvCxnSpPr/>
          <p:nvPr/>
        </p:nvCxnSpPr>
        <p:spPr>
          <a:xfrm>
            <a:off x="2073565" y="2456872"/>
            <a:ext cx="0" cy="22167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AF566A74-AE0C-EC5B-2F50-FC864D08CD26}"/>
              </a:ext>
            </a:extLst>
          </p:cNvPr>
          <p:cNvCxnSpPr/>
          <p:nvPr/>
        </p:nvCxnSpPr>
        <p:spPr>
          <a:xfrm>
            <a:off x="3038765" y="2456872"/>
            <a:ext cx="0" cy="22167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4CC3DB13-257B-1426-A758-C75D24483EAA}"/>
              </a:ext>
            </a:extLst>
          </p:cNvPr>
          <p:cNvCxnSpPr/>
          <p:nvPr/>
        </p:nvCxnSpPr>
        <p:spPr>
          <a:xfrm>
            <a:off x="4133274" y="2452254"/>
            <a:ext cx="0" cy="22167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F31A9CB0-D3D9-9223-607A-20D61333ED81}"/>
              </a:ext>
            </a:extLst>
          </p:cNvPr>
          <p:cNvCxnSpPr/>
          <p:nvPr/>
        </p:nvCxnSpPr>
        <p:spPr>
          <a:xfrm>
            <a:off x="720437" y="3828472"/>
            <a:ext cx="4553527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CD461C0C-279A-0956-56D7-8060EABB6955}"/>
              </a:ext>
            </a:extLst>
          </p:cNvPr>
          <p:cNvCxnSpPr/>
          <p:nvPr/>
        </p:nvCxnSpPr>
        <p:spPr>
          <a:xfrm>
            <a:off x="988292" y="3708399"/>
            <a:ext cx="0" cy="22167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9C2C4D7F-2EFA-2BC9-1506-06BC9E229B81}"/>
              </a:ext>
            </a:extLst>
          </p:cNvPr>
          <p:cNvCxnSpPr/>
          <p:nvPr/>
        </p:nvCxnSpPr>
        <p:spPr>
          <a:xfrm>
            <a:off x="2073565" y="3708399"/>
            <a:ext cx="0" cy="22167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14B8C776-FE2F-FD2E-07C0-5240EBD64A7C}"/>
              </a:ext>
            </a:extLst>
          </p:cNvPr>
          <p:cNvCxnSpPr/>
          <p:nvPr/>
        </p:nvCxnSpPr>
        <p:spPr>
          <a:xfrm>
            <a:off x="3038765" y="3708399"/>
            <a:ext cx="0" cy="22167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9AEFCACC-7FD8-82FF-7129-23232454E757}"/>
              </a:ext>
            </a:extLst>
          </p:cNvPr>
          <p:cNvCxnSpPr/>
          <p:nvPr/>
        </p:nvCxnSpPr>
        <p:spPr>
          <a:xfrm>
            <a:off x="4133274" y="3703781"/>
            <a:ext cx="0" cy="22167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34A0BE39-C33F-B48C-F2F1-8ECF62AE44B5}"/>
              </a:ext>
            </a:extLst>
          </p:cNvPr>
          <p:cNvCxnSpPr/>
          <p:nvPr/>
        </p:nvCxnSpPr>
        <p:spPr>
          <a:xfrm>
            <a:off x="720437" y="5140036"/>
            <a:ext cx="4553527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EF1CB9E9-89FC-CCD9-9291-E3E1472401CB}"/>
              </a:ext>
            </a:extLst>
          </p:cNvPr>
          <p:cNvCxnSpPr/>
          <p:nvPr/>
        </p:nvCxnSpPr>
        <p:spPr>
          <a:xfrm>
            <a:off x="988292" y="5019963"/>
            <a:ext cx="0" cy="22167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72AEF191-205D-00F6-27C0-E6DA5C6EB9D7}"/>
              </a:ext>
            </a:extLst>
          </p:cNvPr>
          <p:cNvCxnSpPr/>
          <p:nvPr/>
        </p:nvCxnSpPr>
        <p:spPr>
          <a:xfrm>
            <a:off x="2073565" y="5019963"/>
            <a:ext cx="0" cy="22167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AEFDEAF4-6DFD-938A-CFD9-A6597C6CE193}"/>
              </a:ext>
            </a:extLst>
          </p:cNvPr>
          <p:cNvCxnSpPr/>
          <p:nvPr/>
        </p:nvCxnSpPr>
        <p:spPr>
          <a:xfrm>
            <a:off x="3038765" y="5019963"/>
            <a:ext cx="0" cy="22167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2F955468-2B4A-BEB8-2F11-7EF503166FF1}"/>
              </a:ext>
            </a:extLst>
          </p:cNvPr>
          <p:cNvCxnSpPr/>
          <p:nvPr/>
        </p:nvCxnSpPr>
        <p:spPr>
          <a:xfrm>
            <a:off x="4133274" y="5015345"/>
            <a:ext cx="0" cy="22167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9862929D-22AB-48C7-CCDB-FF9877B1863E}"/>
              </a:ext>
            </a:extLst>
          </p:cNvPr>
          <p:cNvCxnSpPr/>
          <p:nvPr/>
        </p:nvCxnSpPr>
        <p:spPr>
          <a:xfrm>
            <a:off x="762001" y="6183745"/>
            <a:ext cx="4553527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E291F9FA-8112-1123-F8BF-BB09C8B8F292}"/>
              </a:ext>
            </a:extLst>
          </p:cNvPr>
          <p:cNvCxnSpPr/>
          <p:nvPr/>
        </p:nvCxnSpPr>
        <p:spPr>
          <a:xfrm>
            <a:off x="1029856" y="6063672"/>
            <a:ext cx="0" cy="22167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3C83D495-A46C-B3D7-D43E-97DC1DF69E5C}"/>
              </a:ext>
            </a:extLst>
          </p:cNvPr>
          <p:cNvCxnSpPr/>
          <p:nvPr/>
        </p:nvCxnSpPr>
        <p:spPr>
          <a:xfrm>
            <a:off x="2115129" y="6063672"/>
            <a:ext cx="0" cy="22167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B00EF4C9-ADB3-0F2D-7BBC-CEAB9F8393C3}"/>
              </a:ext>
            </a:extLst>
          </p:cNvPr>
          <p:cNvCxnSpPr/>
          <p:nvPr/>
        </p:nvCxnSpPr>
        <p:spPr>
          <a:xfrm>
            <a:off x="3080329" y="6063672"/>
            <a:ext cx="0" cy="22167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4841ED2D-E7BF-3339-DD32-59F83F2E9073}"/>
              </a:ext>
            </a:extLst>
          </p:cNvPr>
          <p:cNvCxnSpPr/>
          <p:nvPr/>
        </p:nvCxnSpPr>
        <p:spPr>
          <a:xfrm>
            <a:off x="4174838" y="6059054"/>
            <a:ext cx="0" cy="22167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Oval 25">
            <a:extLst>
              <a:ext uri="{FF2B5EF4-FFF2-40B4-BE49-F238E27FC236}">
                <a16:creationId xmlns:a16="http://schemas.microsoft.com/office/drawing/2014/main" id="{9373054E-C7A7-74DD-AE7D-FA04921737DE}"/>
              </a:ext>
            </a:extLst>
          </p:cNvPr>
          <p:cNvSpPr/>
          <p:nvPr/>
        </p:nvSpPr>
        <p:spPr>
          <a:xfrm>
            <a:off x="3205048" y="2112239"/>
            <a:ext cx="110830" cy="110833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AB3E917F-725D-E186-BBF1-6901E3D42849}"/>
              </a:ext>
            </a:extLst>
          </p:cNvPr>
          <p:cNvSpPr/>
          <p:nvPr/>
        </p:nvSpPr>
        <p:spPr>
          <a:xfrm>
            <a:off x="3454423" y="2112238"/>
            <a:ext cx="110830" cy="110833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284322A4-0AE7-5FC6-D1B3-66113F7A1174}"/>
              </a:ext>
            </a:extLst>
          </p:cNvPr>
          <p:cNvSpPr/>
          <p:nvPr/>
        </p:nvSpPr>
        <p:spPr>
          <a:xfrm>
            <a:off x="3703798" y="2112237"/>
            <a:ext cx="110830" cy="110833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D5DF90E3-5A0A-7802-1755-A792143D3A65}"/>
              </a:ext>
            </a:extLst>
          </p:cNvPr>
          <p:cNvSpPr/>
          <p:nvPr/>
        </p:nvSpPr>
        <p:spPr>
          <a:xfrm>
            <a:off x="3953173" y="2112239"/>
            <a:ext cx="110830" cy="110833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F1248C94-1B7E-A50E-6C77-1C3BBB45CD1B}"/>
              </a:ext>
            </a:extLst>
          </p:cNvPr>
          <p:cNvSpPr/>
          <p:nvPr/>
        </p:nvSpPr>
        <p:spPr>
          <a:xfrm>
            <a:off x="4202548" y="2112238"/>
            <a:ext cx="110830" cy="110833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951D517A-3F80-945B-76A1-9EDC8F198925}"/>
              </a:ext>
            </a:extLst>
          </p:cNvPr>
          <p:cNvSpPr/>
          <p:nvPr/>
        </p:nvSpPr>
        <p:spPr>
          <a:xfrm>
            <a:off x="4451923" y="2112237"/>
            <a:ext cx="110830" cy="110833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82B41452-CB67-CC43-8E7D-AA129616F625}"/>
              </a:ext>
            </a:extLst>
          </p:cNvPr>
          <p:cNvSpPr/>
          <p:nvPr/>
        </p:nvSpPr>
        <p:spPr>
          <a:xfrm>
            <a:off x="2456923" y="3360875"/>
            <a:ext cx="110830" cy="110833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AD9E1099-C754-7907-868A-9A4F0A643FA6}"/>
              </a:ext>
            </a:extLst>
          </p:cNvPr>
          <p:cNvSpPr/>
          <p:nvPr/>
        </p:nvSpPr>
        <p:spPr>
          <a:xfrm>
            <a:off x="2706298" y="3360874"/>
            <a:ext cx="110830" cy="110833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2F3930A2-5608-19CB-5D18-66381B9D3531}"/>
              </a:ext>
            </a:extLst>
          </p:cNvPr>
          <p:cNvSpPr/>
          <p:nvPr/>
        </p:nvSpPr>
        <p:spPr>
          <a:xfrm>
            <a:off x="2955673" y="3360873"/>
            <a:ext cx="110830" cy="110833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BD0E9A23-A97D-08FE-12B5-D00BF0ECE532}"/>
              </a:ext>
            </a:extLst>
          </p:cNvPr>
          <p:cNvSpPr/>
          <p:nvPr/>
        </p:nvSpPr>
        <p:spPr>
          <a:xfrm>
            <a:off x="3205048" y="3360875"/>
            <a:ext cx="110830" cy="110833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75FEE90B-38FF-F3F7-A59F-DC51171C7215}"/>
              </a:ext>
            </a:extLst>
          </p:cNvPr>
          <p:cNvSpPr/>
          <p:nvPr/>
        </p:nvSpPr>
        <p:spPr>
          <a:xfrm>
            <a:off x="3454423" y="3360874"/>
            <a:ext cx="110830" cy="110833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3703DFC4-B284-11C5-3EB7-546DD8032B8D}"/>
              </a:ext>
            </a:extLst>
          </p:cNvPr>
          <p:cNvSpPr/>
          <p:nvPr/>
        </p:nvSpPr>
        <p:spPr>
          <a:xfrm>
            <a:off x="3703798" y="3360873"/>
            <a:ext cx="110830" cy="110833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D0B9527C-B05B-4D34-7617-C16175EEA6F9}"/>
              </a:ext>
            </a:extLst>
          </p:cNvPr>
          <p:cNvSpPr/>
          <p:nvPr/>
        </p:nvSpPr>
        <p:spPr>
          <a:xfrm>
            <a:off x="3953173" y="3360875"/>
            <a:ext cx="110830" cy="110833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Oval 38">
            <a:extLst>
              <a:ext uri="{FF2B5EF4-FFF2-40B4-BE49-F238E27FC236}">
                <a16:creationId xmlns:a16="http://schemas.microsoft.com/office/drawing/2014/main" id="{71DCB054-6CBF-87FF-F641-9D06FB008080}"/>
              </a:ext>
            </a:extLst>
          </p:cNvPr>
          <p:cNvSpPr/>
          <p:nvPr/>
        </p:nvSpPr>
        <p:spPr>
          <a:xfrm>
            <a:off x="4202548" y="3360874"/>
            <a:ext cx="110830" cy="110833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Oval 39">
            <a:extLst>
              <a:ext uri="{FF2B5EF4-FFF2-40B4-BE49-F238E27FC236}">
                <a16:creationId xmlns:a16="http://schemas.microsoft.com/office/drawing/2014/main" id="{D367AF03-AC17-4BA9-47F7-DEC3FE547C95}"/>
              </a:ext>
            </a:extLst>
          </p:cNvPr>
          <p:cNvSpPr/>
          <p:nvPr/>
        </p:nvSpPr>
        <p:spPr>
          <a:xfrm>
            <a:off x="4451923" y="3360873"/>
            <a:ext cx="110830" cy="110833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Oval 40">
            <a:extLst>
              <a:ext uri="{FF2B5EF4-FFF2-40B4-BE49-F238E27FC236}">
                <a16:creationId xmlns:a16="http://schemas.microsoft.com/office/drawing/2014/main" id="{EE45EA17-068F-EFA7-59B9-0BFAD5133184}"/>
              </a:ext>
            </a:extLst>
          </p:cNvPr>
          <p:cNvSpPr/>
          <p:nvPr/>
        </p:nvSpPr>
        <p:spPr>
          <a:xfrm>
            <a:off x="1708798" y="4509657"/>
            <a:ext cx="110830" cy="110833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Oval 41">
            <a:extLst>
              <a:ext uri="{FF2B5EF4-FFF2-40B4-BE49-F238E27FC236}">
                <a16:creationId xmlns:a16="http://schemas.microsoft.com/office/drawing/2014/main" id="{AD4E62EE-647A-E362-ECAA-083C72F431E3}"/>
              </a:ext>
            </a:extLst>
          </p:cNvPr>
          <p:cNvSpPr/>
          <p:nvPr/>
        </p:nvSpPr>
        <p:spPr>
          <a:xfrm>
            <a:off x="1958173" y="4509656"/>
            <a:ext cx="110830" cy="110833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Oval 42">
            <a:extLst>
              <a:ext uri="{FF2B5EF4-FFF2-40B4-BE49-F238E27FC236}">
                <a16:creationId xmlns:a16="http://schemas.microsoft.com/office/drawing/2014/main" id="{9C393417-5D6B-511D-1EE8-252E5F43E012}"/>
              </a:ext>
            </a:extLst>
          </p:cNvPr>
          <p:cNvSpPr/>
          <p:nvPr/>
        </p:nvSpPr>
        <p:spPr>
          <a:xfrm>
            <a:off x="2207548" y="4509655"/>
            <a:ext cx="110830" cy="110833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Oval 43">
            <a:extLst>
              <a:ext uri="{FF2B5EF4-FFF2-40B4-BE49-F238E27FC236}">
                <a16:creationId xmlns:a16="http://schemas.microsoft.com/office/drawing/2014/main" id="{29145FED-F195-8461-6B3A-7045C33359B4}"/>
              </a:ext>
            </a:extLst>
          </p:cNvPr>
          <p:cNvSpPr/>
          <p:nvPr/>
        </p:nvSpPr>
        <p:spPr>
          <a:xfrm>
            <a:off x="2456923" y="4509657"/>
            <a:ext cx="110830" cy="110833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Oval 44">
            <a:extLst>
              <a:ext uri="{FF2B5EF4-FFF2-40B4-BE49-F238E27FC236}">
                <a16:creationId xmlns:a16="http://schemas.microsoft.com/office/drawing/2014/main" id="{75FD3F8F-C585-7C3F-EB22-BB30D11A47C2}"/>
              </a:ext>
            </a:extLst>
          </p:cNvPr>
          <p:cNvSpPr/>
          <p:nvPr/>
        </p:nvSpPr>
        <p:spPr>
          <a:xfrm>
            <a:off x="2706298" y="4509656"/>
            <a:ext cx="110830" cy="110833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Oval 45">
            <a:extLst>
              <a:ext uri="{FF2B5EF4-FFF2-40B4-BE49-F238E27FC236}">
                <a16:creationId xmlns:a16="http://schemas.microsoft.com/office/drawing/2014/main" id="{924CB8D4-9637-AB8B-4444-23E55A138F20}"/>
              </a:ext>
            </a:extLst>
          </p:cNvPr>
          <p:cNvSpPr/>
          <p:nvPr/>
        </p:nvSpPr>
        <p:spPr>
          <a:xfrm>
            <a:off x="2955673" y="4509655"/>
            <a:ext cx="110830" cy="110833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Oval 46">
            <a:extLst>
              <a:ext uri="{FF2B5EF4-FFF2-40B4-BE49-F238E27FC236}">
                <a16:creationId xmlns:a16="http://schemas.microsoft.com/office/drawing/2014/main" id="{D73DCAC4-0BC2-CCED-B2A7-77F42BF12424}"/>
              </a:ext>
            </a:extLst>
          </p:cNvPr>
          <p:cNvSpPr/>
          <p:nvPr/>
        </p:nvSpPr>
        <p:spPr>
          <a:xfrm>
            <a:off x="3205048" y="4509657"/>
            <a:ext cx="110830" cy="110833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Oval 47">
            <a:extLst>
              <a:ext uri="{FF2B5EF4-FFF2-40B4-BE49-F238E27FC236}">
                <a16:creationId xmlns:a16="http://schemas.microsoft.com/office/drawing/2014/main" id="{1BA523A9-3D1A-6AC7-C9A0-C056BF054D0F}"/>
              </a:ext>
            </a:extLst>
          </p:cNvPr>
          <p:cNvSpPr/>
          <p:nvPr/>
        </p:nvSpPr>
        <p:spPr>
          <a:xfrm>
            <a:off x="3454423" y="4509656"/>
            <a:ext cx="110830" cy="110833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Oval 48">
            <a:extLst>
              <a:ext uri="{FF2B5EF4-FFF2-40B4-BE49-F238E27FC236}">
                <a16:creationId xmlns:a16="http://schemas.microsoft.com/office/drawing/2014/main" id="{A67BDB24-3066-D68E-C605-DEE38E9FC973}"/>
              </a:ext>
            </a:extLst>
          </p:cNvPr>
          <p:cNvSpPr/>
          <p:nvPr/>
        </p:nvSpPr>
        <p:spPr>
          <a:xfrm>
            <a:off x="3703798" y="4509655"/>
            <a:ext cx="110830" cy="110833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Oval 49">
            <a:extLst>
              <a:ext uri="{FF2B5EF4-FFF2-40B4-BE49-F238E27FC236}">
                <a16:creationId xmlns:a16="http://schemas.microsoft.com/office/drawing/2014/main" id="{55187A19-71BC-EBBE-AB48-F727995F2027}"/>
              </a:ext>
            </a:extLst>
          </p:cNvPr>
          <p:cNvSpPr/>
          <p:nvPr/>
        </p:nvSpPr>
        <p:spPr>
          <a:xfrm>
            <a:off x="974499" y="5678075"/>
            <a:ext cx="110830" cy="110833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Oval 50">
            <a:extLst>
              <a:ext uri="{FF2B5EF4-FFF2-40B4-BE49-F238E27FC236}">
                <a16:creationId xmlns:a16="http://schemas.microsoft.com/office/drawing/2014/main" id="{0556C1E5-6F79-7344-F6DE-229056171859}"/>
              </a:ext>
            </a:extLst>
          </p:cNvPr>
          <p:cNvSpPr/>
          <p:nvPr/>
        </p:nvSpPr>
        <p:spPr>
          <a:xfrm>
            <a:off x="1223874" y="5678074"/>
            <a:ext cx="110830" cy="110833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Oval 51">
            <a:extLst>
              <a:ext uri="{FF2B5EF4-FFF2-40B4-BE49-F238E27FC236}">
                <a16:creationId xmlns:a16="http://schemas.microsoft.com/office/drawing/2014/main" id="{9ABE269D-823F-2A21-F273-88786746D001}"/>
              </a:ext>
            </a:extLst>
          </p:cNvPr>
          <p:cNvSpPr/>
          <p:nvPr/>
        </p:nvSpPr>
        <p:spPr>
          <a:xfrm>
            <a:off x="1473249" y="5678073"/>
            <a:ext cx="110830" cy="110833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Oval 52">
            <a:extLst>
              <a:ext uri="{FF2B5EF4-FFF2-40B4-BE49-F238E27FC236}">
                <a16:creationId xmlns:a16="http://schemas.microsoft.com/office/drawing/2014/main" id="{E6B43532-C432-F8F4-5982-7AFCBF5CB00C}"/>
              </a:ext>
            </a:extLst>
          </p:cNvPr>
          <p:cNvSpPr/>
          <p:nvPr/>
        </p:nvSpPr>
        <p:spPr>
          <a:xfrm>
            <a:off x="1722624" y="5678075"/>
            <a:ext cx="110830" cy="110833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" name="Oval 53">
            <a:extLst>
              <a:ext uri="{FF2B5EF4-FFF2-40B4-BE49-F238E27FC236}">
                <a16:creationId xmlns:a16="http://schemas.microsoft.com/office/drawing/2014/main" id="{215CE6FC-EC02-9E80-5134-AA7B579FA0DA}"/>
              </a:ext>
            </a:extLst>
          </p:cNvPr>
          <p:cNvSpPr/>
          <p:nvPr/>
        </p:nvSpPr>
        <p:spPr>
          <a:xfrm>
            <a:off x="1971999" y="5678074"/>
            <a:ext cx="110830" cy="110833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" name="Oval 54">
            <a:extLst>
              <a:ext uri="{FF2B5EF4-FFF2-40B4-BE49-F238E27FC236}">
                <a16:creationId xmlns:a16="http://schemas.microsoft.com/office/drawing/2014/main" id="{3707F25E-B781-8DFC-14BC-1EBAC33E6786}"/>
              </a:ext>
            </a:extLst>
          </p:cNvPr>
          <p:cNvSpPr/>
          <p:nvPr/>
        </p:nvSpPr>
        <p:spPr>
          <a:xfrm>
            <a:off x="2221374" y="5678073"/>
            <a:ext cx="110830" cy="110833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Oval 55">
            <a:extLst>
              <a:ext uri="{FF2B5EF4-FFF2-40B4-BE49-F238E27FC236}">
                <a16:creationId xmlns:a16="http://schemas.microsoft.com/office/drawing/2014/main" id="{FB872F89-99C8-0EDD-3C05-2FEC2DA2885C}"/>
              </a:ext>
            </a:extLst>
          </p:cNvPr>
          <p:cNvSpPr/>
          <p:nvPr/>
        </p:nvSpPr>
        <p:spPr>
          <a:xfrm>
            <a:off x="2470749" y="5678075"/>
            <a:ext cx="110830" cy="110833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" name="Oval 56">
            <a:extLst>
              <a:ext uri="{FF2B5EF4-FFF2-40B4-BE49-F238E27FC236}">
                <a16:creationId xmlns:a16="http://schemas.microsoft.com/office/drawing/2014/main" id="{F599627D-120A-7C2E-91CC-233A6E4C3C9D}"/>
              </a:ext>
            </a:extLst>
          </p:cNvPr>
          <p:cNvSpPr/>
          <p:nvPr/>
        </p:nvSpPr>
        <p:spPr>
          <a:xfrm>
            <a:off x="2720124" y="5678074"/>
            <a:ext cx="110830" cy="110833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" name="Oval 57">
            <a:extLst>
              <a:ext uri="{FF2B5EF4-FFF2-40B4-BE49-F238E27FC236}">
                <a16:creationId xmlns:a16="http://schemas.microsoft.com/office/drawing/2014/main" id="{D110D9C5-A93B-9B04-64CF-5DAC5FDB723D}"/>
              </a:ext>
            </a:extLst>
          </p:cNvPr>
          <p:cNvSpPr/>
          <p:nvPr/>
        </p:nvSpPr>
        <p:spPr>
          <a:xfrm>
            <a:off x="2969499" y="5678073"/>
            <a:ext cx="110830" cy="110833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" name="Oval 58">
            <a:extLst>
              <a:ext uri="{FF2B5EF4-FFF2-40B4-BE49-F238E27FC236}">
                <a16:creationId xmlns:a16="http://schemas.microsoft.com/office/drawing/2014/main" id="{186FBCB7-B6D0-777D-9255-1FCBAB77A198}"/>
              </a:ext>
            </a:extLst>
          </p:cNvPr>
          <p:cNvSpPr/>
          <p:nvPr/>
        </p:nvSpPr>
        <p:spPr>
          <a:xfrm>
            <a:off x="3953173" y="4518891"/>
            <a:ext cx="110830" cy="110833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0" name="Oval 59">
            <a:extLst>
              <a:ext uri="{FF2B5EF4-FFF2-40B4-BE49-F238E27FC236}">
                <a16:creationId xmlns:a16="http://schemas.microsoft.com/office/drawing/2014/main" id="{46BD1BC5-3711-6FE7-B0D1-1B0C537C8F0E}"/>
              </a:ext>
            </a:extLst>
          </p:cNvPr>
          <p:cNvSpPr/>
          <p:nvPr/>
        </p:nvSpPr>
        <p:spPr>
          <a:xfrm>
            <a:off x="4202548" y="4518890"/>
            <a:ext cx="110830" cy="110833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" name="Oval 60">
            <a:extLst>
              <a:ext uri="{FF2B5EF4-FFF2-40B4-BE49-F238E27FC236}">
                <a16:creationId xmlns:a16="http://schemas.microsoft.com/office/drawing/2014/main" id="{1DD3CC81-987C-CE0C-5165-341EC87CD1E2}"/>
              </a:ext>
            </a:extLst>
          </p:cNvPr>
          <p:cNvSpPr/>
          <p:nvPr/>
        </p:nvSpPr>
        <p:spPr>
          <a:xfrm>
            <a:off x="4451923" y="4518889"/>
            <a:ext cx="110830" cy="110833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2" name="Oval 61">
            <a:extLst>
              <a:ext uri="{FF2B5EF4-FFF2-40B4-BE49-F238E27FC236}">
                <a16:creationId xmlns:a16="http://schemas.microsoft.com/office/drawing/2014/main" id="{86E18316-D9EA-A124-DADA-227137C74290}"/>
              </a:ext>
            </a:extLst>
          </p:cNvPr>
          <p:cNvSpPr/>
          <p:nvPr/>
        </p:nvSpPr>
        <p:spPr>
          <a:xfrm>
            <a:off x="3214256" y="5678072"/>
            <a:ext cx="110830" cy="110833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3" name="Oval 62">
            <a:extLst>
              <a:ext uri="{FF2B5EF4-FFF2-40B4-BE49-F238E27FC236}">
                <a16:creationId xmlns:a16="http://schemas.microsoft.com/office/drawing/2014/main" id="{572FCE86-A1F9-D922-A752-047732DB5F86}"/>
              </a:ext>
            </a:extLst>
          </p:cNvPr>
          <p:cNvSpPr/>
          <p:nvPr/>
        </p:nvSpPr>
        <p:spPr>
          <a:xfrm>
            <a:off x="3463631" y="5678071"/>
            <a:ext cx="110830" cy="110833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4" name="Oval 63">
            <a:extLst>
              <a:ext uri="{FF2B5EF4-FFF2-40B4-BE49-F238E27FC236}">
                <a16:creationId xmlns:a16="http://schemas.microsoft.com/office/drawing/2014/main" id="{FF567595-5E51-8B29-56DB-8795C6881FBC}"/>
              </a:ext>
            </a:extLst>
          </p:cNvPr>
          <p:cNvSpPr/>
          <p:nvPr/>
        </p:nvSpPr>
        <p:spPr>
          <a:xfrm>
            <a:off x="3713006" y="5678070"/>
            <a:ext cx="110830" cy="110833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5" name="Oval 64">
            <a:extLst>
              <a:ext uri="{FF2B5EF4-FFF2-40B4-BE49-F238E27FC236}">
                <a16:creationId xmlns:a16="http://schemas.microsoft.com/office/drawing/2014/main" id="{67766A13-EFED-489E-26DF-E3FE8CB38844}"/>
              </a:ext>
            </a:extLst>
          </p:cNvPr>
          <p:cNvSpPr/>
          <p:nvPr/>
        </p:nvSpPr>
        <p:spPr>
          <a:xfrm>
            <a:off x="3957763" y="5681529"/>
            <a:ext cx="110830" cy="110833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6" name="Oval 65">
            <a:extLst>
              <a:ext uri="{FF2B5EF4-FFF2-40B4-BE49-F238E27FC236}">
                <a16:creationId xmlns:a16="http://schemas.microsoft.com/office/drawing/2014/main" id="{0111126A-E5AA-7EB5-6317-1A5CF6D283BE}"/>
              </a:ext>
            </a:extLst>
          </p:cNvPr>
          <p:cNvSpPr/>
          <p:nvPr/>
        </p:nvSpPr>
        <p:spPr>
          <a:xfrm>
            <a:off x="4207138" y="5681528"/>
            <a:ext cx="110830" cy="110833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7" name="Oval 66">
            <a:extLst>
              <a:ext uri="{FF2B5EF4-FFF2-40B4-BE49-F238E27FC236}">
                <a16:creationId xmlns:a16="http://schemas.microsoft.com/office/drawing/2014/main" id="{E108F60F-837F-FB3A-FE03-25DC6DCAE50B}"/>
              </a:ext>
            </a:extLst>
          </p:cNvPr>
          <p:cNvSpPr/>
          <p:nvPr/>
        </p:nvSpPr>
        <p:spPr>
          <a:xfrm>
            <a:off x="4456513" y="5681527"/>
            <a:ext cx="110830" cy="110833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DFDAF9CB-F71D-CB55-3437-84637CFD1D91}"/>
              </a:ext>
            </a:extLst>
          </p:cNvPr>
          <p:cNvSpPr txBox="1"/>
          <p:nvPr/>
        </p:nvSpPr>
        <p:spPr>
          <a:xfrm>
            <a:off x="3925455" y="304922"/>
            <a:ext cx="43410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Sales orders in time for different customers</a:t>
            </a:r>
          </a:p>
        </p:txBody>
      </p:sp>
      <p:cxnSp>
        <p:nvCxnSpPr>
          <p:cNvPr id="70" name="Straight Connector 69">
            <a:extLst>
              <a:ext uri="{FF2B5EF4-FFF2-40B4-BE49-F238E27FC236}">
                <a16:creationId xmlns:a16="http://schemas.microsoft.com/office/drawing/2014/main" id="{602728F8-7196-5D08-1317-D007B0173F01}"/>
              </a:ext>
            </a:extLst>
          </p:cNvPr>
          <p:cNvCxnSpPr/>
          <p:nvPr/>
        </p:nvCxnSpPr>
        <p:spPr>
          <a:xfrm flipV="1">
            <a:off x="4567343" y="1948873"/>
            <a:ext cx="0" cy="4488872"/>
          </a:xfrm>
          <a:prstGeom prst="line">
            <a:avLst/>
          </a:prstGeom>
          <a:ln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5" name="TextBox 74">
            <a:extLst>
              <a:ext uri="{FF2B5EF4-FFF2-40B4-BE49-F238E27FC236}">
                <a16:creationId xmlns:a16="http://schemas.microsoft.com/office/drawing/2014/main" id="{107CEBF4-1DD4-200C-9DDE-5CA8EE00F507}"/>
              </a:ext>
            </a:extLst>
          </p:cNvPr>
          <p:cNvSpPr txBox="1"/>
          <p:nvPr/>
        </p:nvSpPr>
        <p:spPr>
          <a:xfrm>
            <a:off x="6026679" y="2563090"/>
            <a:ext cx="592519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For all customers we move sales orders dates to the future such that for all customers the date of last order is the same</a:t>
            </a:r>
          </a:p>
        </p:txBody>
      </p:sp>
      <p:cxnSp>
        <p:nvCxnSpPr>
          <p:cNvPr id="77" name="Straight Connector 76">
            <a:extLst>
              <a:ext uri="{FF2B5EF4-FFF2-40B4-BE49-F238E27FC236}">
                <a16:creationId xmlns:a16="http://schemas.microsoft.com/office/drawing/2014/main" id="{B2B981D3-4689-7F66-AC06-93F59016218C}"/>
              </a:ext>
            </a:extLst>
          </p:cNvPr>
          <p:cNvCxnSpPr/>
          <p:nvPr/>
        </p:nvCxnSpPr>
        <p:spPr>
          <a:xfrm flipV="1">
            <a:off x="3214256" y="1948873"/>
            <a:ext cx="0" cy="4488872"/>
          </a:xfrm>
          <a:prstGeom prst="line">
            <a:avLst/>
          </a:prstGeom>
          <a:ln/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8213797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24D45330-D030-5F39-2FD8-13D2FF47C1CD}"/>
              </a:ext>
            </a:extLst>
          </p:cNvPr>
          <p:cNvSpPr txBox="1"/>
          <p:nvPr/>
        </p:nvSpPr>
        <p:spPr>
          <a:xfrm>
            <a:off x="120073" y="1191829"/>
            <a:ext cx="12192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Our dataset is imbalanced. There is a big difference in number of customers who belongs to different future revenue clusters. In one cluster there is 2000 customers, in another one 500 and in the last one 200.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90FED10-F9C1-28E7-189D-512C3227BE00}"/>
              </a:ext>
            </a:extLst>
          </p:cNvPr>
          <p:cNvSpPr txBox="1"/>
          <p:nvPr/>
        </p:nvSpPr>
        <p:spPr>
          <a:xfrm>
            <a:off x="4638175" y="3195782"/>
            <a:ext cx="6527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2000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1B4DD895-6BE4-E816-3051-5C1CCB1AD341}"/>
              </a:ext>
            </a:extLst>
          </p:cNvPr>
          <p:cNvSpPr/>
          <p:nvPr/>
        </p:nvSpPr>
        <p:spPr>
          <a:xfrm>
            <a:off x="4638175" y="3112655"/>
            <a:ext cx="652743" cy="572654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D4CBAE7-7D37-9887-BB05-812CED809D4D}"/>
              </a:ext>
            </a:extLst>
          </p:cNvPr>
          <p:cNvSpPr txBox="1"/>
          <p:nvPr/>
        </p:nvSpPr>
        <p:spPr>
          <a:xfrm>
            <a:off x="5889702" y="3195782"/>
            <a:ext cx="5357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500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626625BE-98ED-7B61-14E2-F3451EC3AED1}"/>
              </a:ext>
            </a:extLst>
          </p:cNvPr>
          <p:cNvSpPr/>
          <p:nvPr/>
        </p:nvSpPr>
        <p:spPr>
          <a:xfrm>
            <a:off x="5889702" y="3112655"/>
            <a:ext cx="652743" cy="572654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19A8705-2098-7A6B-A465-F1CD89133CDF}"/>
              </a:ext>
            </a:extLst>
          </p:cNvPr>
          <p:cNvSpPr txBox="1"/>
          <p:nvPr/>
        </p:nvSpPr>
        <p:spPr>
          <a:xfrm>
            <a:off x="7256684" y="3195782"/>
            <a:ext cx="5357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200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115543AE-2A08-95ED-CCD3-20DB688D2831}"/>
              </a:ext>
            </a:extLst>
          </p:cNvPr>
          <p:cNvSpPr/>
          <p:nvPr/>
        </p:nvSpPr>
        <p:spPr>
          <a:xfrm>
            <a:off x="7256684" y="3112655"/>
            <a:ext cx="652743" cy="572654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877C1E0-5FA5-48C5-BB1D-08C16DB13390}"/>
              </a:ext>
            </a:extLst>
          </p:cNvPr>
          <p:cNvSpPr txBox="1"/>
          <p:nvPr/>
        </p:nvSpPr>
        <p:spPr>
          <a:xfrm>
            <a:off x="4459568" y="2660196"/>
            <a:ext cx="10099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Cluster 1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31B2A6B-0ABE-F20F-9D07-27DA41E61A54}"/>
              </a:ext>
            </a:extLst>
          </p:cNvPr>
          <p:cNvSpPr txBox="1"/>
          <p:nvPr/>
        </p:nvSpPr>
        <p:spPr>
          <a:xfrm>
            <a:off x="5711095" y="2701760"/>
            <a:ext cx="10099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Cluster 2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432FB71-B3E2-1231-0FB0-9CBE77C36FD4}"/>
              </a:ext>
            </a:extLst>
          </p:cNvPr>
          <p:cNvSpPr txBox="1"/>
          <p:nvPr/>
        </p:nvSpPr>
        <p:spPr>
          <a:xfrm>
            <a:off x="7078077" y="2701760"/>
            <a:ext cx="10099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Cluster 3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41C840B-9C9D-2AF6-CBD5-689D93AD0588}"/>
              </a:ext>
            </a:extLst>
          </p:cNvPr>
          <p:cNvSpPr txBox="1"/>
          <p:nvPr/>
        </p:nvSpPr>
        <p:spPr>
          <a:xfrm>
            <a:off x="5081812" y="494545"/>
            <a:ext cx="20283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Imbalanced dataset</a:t>
            </a:r>
          </a:p>
        </p:txBody>
      </p:sp>
    </p:spTree>
    <p:extLst>
      <p:ext uri="{BB962C8B-B14F-4D97-AF65-F5344CB8AC3E}">
        <p14:creationId xmlns:p14="http://schemas.microsoft.com/office/powerpoint/2010/main" val="200349943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24D45330-D030-5F39-2FD8-13D2FF47C1CD}"/>
              </a:ext>
            </a:extLst>
          </p:cNvPr>
          <p:cNvSpPr txBox="1"/>
          <p:nvPr/>
        </p:nvSpPr>
        <p:spPr>
          <a:xfrm>
            <a:off x="0" y="569575"/>
            <a:ext cx="121920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In order to deal with an imbalanced dataset we can divide it into a few separate, balanced datasets. Each dataset will contain a part of customers who belongs to the cluster 1 and all the customers from clusters 2 and 3. We can train 1 model over every dataset separately or train multiple different models, one for each dataset.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90FED10-F9C1-28E7-189D-512C3227BE00}"/>
              </a:ext>
            </a:extLst>
          </p:cNvPr>
          <p:cNvSpPr txBox="1"/>
          <p:nvPr/>
        </p:nvSpPr>
        <p:spPr>
          <a:xfrm>
            <a:off x="694155" y="2954560"/>
            <a:ext cx="5357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500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1B4DD895-6BE4-E816-3051-5C1CCB1AD341}"/>
              </a:ext>
            </a:extLst>
          </p:cNvPr>
          <p:cNvSpPr/>
          <p:nvPr/>
        </p:nvSpPr>
        <p:spPr>
          <a:xfrm>
            <a:off x="694155" y="2871433"/>
            <a:ext cx="652743" cy="572654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D4CBAE7-7D37-9887-BB05-812CED809D4D}"/>
              </a:ext>
            </a:extLst>
          </p:cNvPr>
          <p:cNvSpPr txBox="1"/>
          <p:nvPr/>
        </p:nvSpPr>
        <p:spPr>
          <a:xfrm>
            <a:off x="1945682" y="2954560"/>
            <a:ext cx="5357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500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626625BE-98ED-7B61-14E2-F3451EC3AED1}"/>
              </a:ext>
            </a:extLst>
          </p:cNvPr>
          <p:cNvSpPr/>
          <p:nvPr/>
        </p:nvSpPr>
        <p:spPr>
          <a:xfrm>
            <a:off x="1945682" y="2871433"/>
            <a:ext cx="652743" cy="572654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19A8705-2098-7A6B-A465-F1CD89133CDF}"/>
              </a:ext>
            </a:extLst>
          </p:cNvPr>
          <p:cNvSpPr txBox="1"/>
          <p:nvPr/>
        </p:nvSpPr>
        <p:spPr>
          <a:xfrm>
            <a:off x="3312664" y="2954560"/>
            <a:ext cx="5357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200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115543AE-2A08-95ED-CCD3-20DB688D2831}"/>
              </a:ext>
            </a:extLst>
          </p:cNvPr>
          <p:cNvSpPr/>
          <p:nvPr/>
        </p:nvSpPr>
        <p:spPr>
          <a:xfrm>
            <a:off x="3312664" y="2871433"/>
            <a:ext cx="652743" cy="572654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877C1E0-5FA5-48C5-BB1D-08C16DB13390}"/>
              </a:ext>
            </a:extLst>
          </p:cNvPr>
          <p:cNvSpPr txBox="1"/>
          <p:nvPr/>
        </p:nvSpPr>
        <p:spPr>
          <a:xfrm>
            <a:off x="515548" y="2418974"/>
            <a:ext cx="10099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Cluster 1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31B2A6B-0ABE-F20F-9D07-27DA41E61A54}"/>
              </a:ext>
            </a:extLst>
          </p:cNvPr>
          <p:cNvSpPr txBox="1"/>
          <p:nvPr/>
        </p:nvSpPr>
        <p:spPr>
          <a:xfrm>
            <a:off x="1767075" y="2460538"/>
            <a:ext cx="10099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Cluster 2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432FB71-B3E2-1231-0FB0-9CBE77C36FD4}"/>
              </a:ext>
            </a:extLst>
          </p:cNvPr>
          <p:cNvSpPr txBox="1"/>
          <p:nvPr/>
        </p:nvSpPr>
        <p:spPr>
          <a:xfrm>
            <a:off x="3134057" y="2460538"/>
            <a:ext cx="10099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Cluster 3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41C840B-9C9D-2AF6-CBD5-689D93AD0588}"/>
              </a:ext>
            </a:extLst>
          </p:cNvPr>
          <p:cNvSpPr txBox="1"/>
          <p:nvPr/>
        </p:nvSpPr>
        <p:spPr>
          <a:xfrm>
            <a:off x="5081812" y="131246"/>
            <a:ext cx="20283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Imbalanced dataset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B2887443-CA42-4A12-1460-54E143480C0E}"/>
              </a:ext>
            </a:extLst>
          </p:cNvPr>
          <p:cNvSpPr txBox="1"/>
          <p:nvPr/>
        </p:nvSpPr>
        <p:spPr>
          <a:xfrm>
            <a:off x="1736361" y="1840053"/>
            <a:ext cx="10713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Dataset 1</a:t>
            </a:r>
          </a:p>
        </p:txBody>
      </p:sp>
      <p:sp>
        <p:nvSpPr>
          <p:cNvPr id="44" name="Oval 43">
            <a:extLst>
              <a:ext uri="{FF2B5EF4-FFF2-40B4-BE49-F238E27FC236}">
                <a16:creationId xmlns:a16="http://schemas.microsoft.com/office/drawing/2014/main" id="{AC4014D0-6920-3A63-1947-DECDC149BDEF}"/>
              </a:ext>
            </a:extLst>
          </p:cNvPr>
          <p:cNvSpPr/>
          <p:nvPr/>
        </p:nvSpPr>
        <p:spPr>
          <a:xfrm>
            <a:off x="15375" y="2304965"/>
            <a:ext cx="4578136" cy="1432684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F9FD0D41-5D72-E531-718A-35F5DB7B39FB}"/>
              </a:ext>
            </a:extLst>
          </p:cNvPr>
          <p:cNvSpPr txBox="1"/>
          <p:nvPr/>
        </p:nvSpPr>
        <p:spPr>
          <a:xfrm>
            <a:off x="871118" y="5199304"/>
            <a:ext cx="5357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500</a:t>
            </a:r>
          </a:p>
        </p:txBody>
      </p:sp>
      <p:sp>
        <p:nvSpPr>
          <p:cNvPr id="58" name="Oval 57">
            <a:extLst>
              <a:ext uri="{FF2B5EF4-FFF2-40B4-BE49-F238E27FC236}">
                <a16:creationId xmlns:a16="http://schemas.microsoft.com/office/drawing/2014/main" id="{906EE176-D87B-6286-14D9-85BCF55A2D0A}"/>
              </a:ext>
            </a:extLst>
          </p:cNvPr>
          <p:cNvSpPr/>
          <p:nvPr/>
        </p:nvSpPr>
        <p:spPr>
          <a:xfrm>
            <a:off x="871118" y="5116177"/>
            <a:ext cx="652743" cy="572654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F029FF9A-4132-4AE8-76A6-EF97C4D3B3CD}"/>
              </a:ext>
            </a:extLst>
          </p:cNvPr>
          <p:cNvSpPr txBox="1"/>
          <p:nvPr/>
        </p:nvSpPr>
        <p:spPr>
          <a:xfrm>
            <a:off x="2122645" y="5199304"/>
            <a:ext cx="5357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500</a:t>
            </a:r>
          </a:p>
        </p:txBody>
      </p:sp>
      <p:sp>
        <p:nvSpPr>
          <p:cNvPr id="60" name="Oval 59">
            <a:extLst>
              <a:ext uri="{FF2B5EF4-FFF2-40B4-BE49-F238E27FC236}">
                <a16:creationId xmlns:a16="http://schemas.microsoft.com/office/drawing/2014/main" id="{F9F3A9E0-7CF6-19F5-D7AF-A237BDBA17A5}"/>
              </a:ext>
            </a:extLst>
          </p:cNvPr>
          <p:cNvSpPr/>
          <p:nvPr/>
        </p:nvSpPr>
        <p:spPr>
          <a:xfrm>
            <a:off x="2122645" y="5116177"/>
            <a:ext cx="652743" cy="572654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D9C05D3B-01B4-9031-2E24-8636CAEDCF96}"/>
              </a:ext>
            </a:extLst>
          </p:cNvPr>
          <p:cNvSpPr txBox="1"/>
          <p:nvPr/>
        </p:nvSpPr>
        <p:spPr>
          <a:xfrm>
            <a:off x="3489627" y="5199304"/>
            <a:ext cx="5357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200</a:t>
            </a:r>
          </a:p>
        </p:txBody>
      </p:sp>
      <p:sp>
        <p:nvSpPr>
          <p:cNvPr id="62" name="Oval 61">
            <a:extLst>
              <a:ext uri="{FF2B5EF4-FFF2-40B4-BE49-F238E27FC236}">
                <a16:creationId xmlns:a16="http://schemas.microsoft.com/office/drawing/2014/main" id="{326DBEEE-202D-5A04-C2FF-654B11BFD7F9}"/>
              </a:ext>
            </a:extLst>
          </p:cNvPr>
          <p:cNvSpPr/>
          <p:nvPr/>
        </p:nvSpPr>
        <p:spPr>
          <a:xfrm>
            <a:off x="3489627" y="5116177"/>
            <a:ext cx="652743" cy="572654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10333DF7-ACA8-3D9E-011E-1A26DA52A7C7}"/>
              </a:ext>
            </a:extLst>
          </p:cNvPr>
          <p:cNvSpPr txBox="1"/>
          <p:nvPr/>
        </p:nvSpPr>
        <p:spPr>
          <a:xfrm>
            <a:off x="692511" y="4663718"/>
            <a:ext cx="10099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Cluster 1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4336BFD7-119B-B37D-02A8-11617E093017}"/>
              </a:ext>
            </a:extLst>
          </p:cNvPr>
          <p:cNvSpPr txBox="1"/>
          <p:nvPr/>
        </p:nvSpPr>
        <p:spPr>
          <a:xfrm>
            <a:off x="1944038" y="4705282"/>
            <a:ext cx="10099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Cluster 2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0EBB0D97-85A6-C89F-D286-6168419FCDC7}"/>
              </a:ext>
            </a:extLst>
          </p:cNvPr>
          <p:cNvSpPr txBox="1"/>
          <p:nvPr/>
        </p:nvSpPr>
        <p:spPr>
          <a:xfrm>
            <a:off x="3311020" y="4705282"/>
            <a:ext cx="10099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Cluster 3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4668D863-E3AF-842E-9836-85923A762690}"/>
              </a:ext>
            </a:extLst>
          </p:cNvPr>
          <p:cNvSpPr txBox="1"/>
          <p:nvPr/>
        </p:nvSpPr>
        <p:spPr>
          <a:xfrm>
            <a:off x="1913324" y="4084797"/>
            <a:ext cx="10713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Dataset 3</a:t>
            </a:r>
          </a:p>
        </p:txBody>
      </p:sp>
      <p:sp>
        <p:nvSpPr>
          <p:cNvPr id="67" name="Oval 66">
            <a:extLst>
              <a:ext uri="{FF2B5EF4-FFF2-40B4-BE49-F238E27FC236}">
                <a16:creationId xmlns:a16="http://schemas.microsoft.com/office/drawing/2014/main" id="{B3AD09AD-1487-C979-8F7F-B57793F6D149}"/>
              </a:ext>
            </a:extLst>
          </p:cNvPr>
          <p:cNvSpPr/>
          <p:nvPr/>
        </p:nvSpPr>
        <p:spPr>
          <a:xfrm>
            <a:off x="192338" y="4549709"/>
            <a:ext cx="4578136" cy="1432684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3206079C-4517-7209-3935-BB5954A22F4C}"/>
              </a:ext>
            </a:extLst>
          </p:cNvPr>
          <p:cNvSpPr txBox="1"/>
          <p:nvPr/>
        </p:nvSpPr>
        <p:spPr>
          <a:xfrm>
            <a:off x="5841662" y="2958225"/>
            <a:ext cx="5357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500</a:t>
            </a:r>
          </a:p>
        </p:txBody>
      </p:sp>
      <p:sp>
        <p:nvSpPr>
          <p:cNvPr id="69" name="Oval 68">
            <a:extLst>
              <a:ext uri="{FF2B5EF4-FFF2-40B4-BE49-F238E27FC236}">
                <a16:creationId xmlns:a16="http://schemas.microsoft.com/office/drawing/2014/main" id="{F80AE983-A651-E8BF-D83A-7801DD8FB867}"/>
              </a:ext>
            </a:extLst>
          </p:cNvPr>
          <p:cNvSpPr/>
          <p:nvPr/>
        </p:nvSpPr>
        <p:spPr>
          <a:xfrm>
            <a:off x="5841662" y="2875098"/>
            <a:ext cx="652743" cy="572654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E98CD045-B3E5-46F5-5BF3-A6AC005DF111}"/>
              </a:ext>
            </a:extLst>
          </p:cNvPr>
          <p:cNvSpPr txBox="1"/>
          <p:nvPr/>
        </p:nvSpPr>
        <p:spPr>
          <a:xfrm>
            <a:off x="7093189" y="2958225"/>
            <a:ext cx="5357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500</a:t>
            </a:r>
          </a:p>
        </p:txBody>
      </p:sp>
      <p:sp>
        <p:nvSpPr>
          <p:cNvPr id="71" name="Oval 70">
            <a:extLst>
              <a:ext uri="{FF2B5EF4-FFF2-40B4-BE49-F238E27FC236}">
                <a16:creationId xmlns:a16="http://schemas.microsoft.com/office/drawing/2014/main" id="{E345A9DB-3986-0C73-7EF0-46247FDC2077}"/>
              </a:ext>
            </a:extLst>
          </p:cNvPr>
          <p:cNvSpPr/>
          <p:nvPr/>
        </p:nvSpPr>
        <p:spPr>
          <a:xfrm>
            <a:off x="7093189" y="2875098"/>
            <a:ext cx="652743" cy="572654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EF6A4C18-7CDD-4F80-A659-86D0A24588D5}"/>
              </a:ext>
            </a:extLst>
          </p:cNvPr>
          <p:cNvSpPr txBox="1"/>
          <p:nvPr/>
        </p:nvSpPr>
        <p:spPr>
          <a:xfrm>
            <a:off x="8460171" y="2958225"/>
            <a:ext cx="5357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200</a:t>
            </a:r>
          </a:p>
        </p:txBody>
      </p:sp>
      <p:sp>
        <p:nvSpPr>
          <p:cNvPr id="73" name="Oval 72">
            <a:extLst>
              <a:ext uri="{FF2B5EF4-FFF2-40B4-BE49-F238E27FC236}">
                <a16:creationId xmlns:a16="http://schemas.microsoft.com/office/drawing/2014/main" id="{96F1D29B-6032-7BBA-CA4F-6E008482E2DC}"/>
              </a:ext>
            </a:extLst>
          </p:cNvPr>
          <p:cNvSpPr/>
          <p:nvPr/>
        </p:nvSpPr>
        <p:spPr>
          <a:xfrm>
            <a:off x="8460171" y="2875098"/>
            <a:ext cx="652743" cy="572654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0E1795FF-8C8B-B638-F607-C4DEC230BA50}"/>
              </a:ext>
            </a:extLst>
          </p:cNvPr>
          <p:cNvSpPr txBox="1"/>
          <p:nvPr/>
        </p:nvSpPr>
        <p:spPr>
          <a:xfrm>
            <a:off x="5663055" y="2422639"/>
            <a:ext cx="10099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Cluster 1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25843868-B96E-8789-CBCC-A2064FD3FFBE}"/>
              </a:ext>
            </a:extLst>
          </p:cNvPr>
          <p:cNvSpPr txBox="1"/>
          <p:nvPr/>
        </p:nvSpPr>
        <p:spPr>
          <a:xfrm>
            <a:off x="6914582" y="2464203"/>
            <a:ext cx="10099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Cluster 2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D82B1C43-BBCF-D173-88CF-AF995B25FEEC}"/>
              </a:ext>
            </a:extLst>
          </p:cNvPr>
          <p:cNvSpPr txBox="1"/>
          <p:nvPr/>
        </p:nvSpPr>
        <p:spPr>
          <a:xfrm>
            <a:off x="8281564" y="2464203"/>
            <a:ext cx="10099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Cluster 3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75DA8C45-ED3E-5F1C-82DE-FC4B6B6D60CB}"/>
              </a:ext>
            </a:extLst>
          </p:cNvPr>
          <p:cNvSpPr txBox="1"/>
          <p:nvPr/>
        </p:nvSpPr>
        <p:spPr>
          <a:xfrm>
            <a:off x="6883868" y="1843718"/>
            <a:ext cx="10713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Dataset 2</a:t>
            </a:r>
          </a:p>
        </p:txBody>
      </p:sp>
      <p:sp>
        <p:nvSpPr>
          <p:cNvPr id="78" name="Oval 77">
            <a:extLst>
              <a:ext uri="{FF2B5EF4-FFF2-40B4-BE49-F238E27FC236}">
                <a16:creationId xmlns:a16="http://schemas.microsoft.com/office/drawing/2014/main" id="{BF2AE823-E7F1-0DD1-2B5E-41F663AFCBB2}"/>
              </a:ext>
            </a:extLst>
          </p:cNvPr>
          <p:cNvSpPr/>
          <p:nvPr/>
        </p:nvSpPr>
        <p:spPr>
          <a:xfrm>
            <a:off x="5162882" y="2308630"/>
            <a:ext cx="4578136" cy="1432684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8B9C63EF-97D6-AC0A-DBF4-116CA54DD7A0}"/>
              </a:ext>
            </a:extLst>
          </p:cNvPr>
          <p:cNvSpPr txBox="1"/>
          <p:nvPr/>
        </p:nvSpPr>
        <p:spPr>
          <a:xfrm>
            <a:off x="6083174" y="5313313"/>
            <a:ext cx="5357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500</a:t>
            </a:r>
          </a:p>
        </p:txBody>
      </p:sp>
      <p:sp>
        <p:nvSpPr>
          <p:cNvPr id="80" name="Oval 79">
            <a:extLst>
              <a:ext uri="{FF2B5EF4-FFF2-40B4-BE49-F238E27FC236}">
                <a16:creationId xmlns:a16="http://schemas.microsoft.com/office/drawing/2014/main" id="{D048A283-F76D-5C39-536A-6F9DEF8E32D7}"/>
              </a:ext>
            </a:extLst>
          </p:cNvPr>
          <p:cNvSpPr/>
          <p:nvPr/>
        </p:nvSpPr>
        <p:spPr>
          <a:xfrm>
            <a:off x="6083174" y="5230186"/>
            <a:ext cx="652743" cy="572654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32B4B614-F191-13DB-3704-82D16E1B0693}"/>
              </a:ext>
            </a:extLst>
          </p:cNvPr>
          <p:cNvSpPr txBox="1"/>
          <p:nvPr/>
        </p:nvSpPr>
        <p:spPr>
          <a:xfrm>
            <a:off x="7334701" y="5313313"/>
            <a:ext cx="5357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500</a:t>
            </a:r>
          </a:p>
        </p:txBody>
      </p:sp>
      <p:sp>
        <p:nvSpPr>
          <p:cNvPr id="82" name="Oval 81">
            <a:extLst>
              <a:ext uri="{FF2B5EF4-FFF2-40B4-BE49-F238E27FC236}">
                <a16:creationId xmlns:a16="http://schemas.microsoft.com/office/drawing/2014/main" id="{EC8A6914-7956-75A4-B274-81A323D2B4B7}"/>
              </a:ext>
            </a:extLst>
          </p:cNvPr>
          <p:cNvSpPr/>
          <p:nvPr/>
        </p:nvSpPr>
        <p:spPr>
          <a:xfrm>
            <a:off x="7334701" y="5230186"/>
            <a:ext cx="652743" cy="572654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FFF66512-AE82-0C64-FFD6-B7916ECA0BF5}"/>
              </a:ext>
            </a:extLst>
          </p:cNvPr>
          <p:cNvSpPr txBox="1"/>
          <p:nvPr/>
        </p:nvSpPr>
        <p:spPr>
          <a:xfrm>
            <a:off x="8701683" y="5313313"/>
            <a:ext cx="5357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200</a:t>
            </a:r>
          </a:p>
        </p:txBody>
      </p:sp>
      <p:sp>
        <p:nvSpPr>
          <p:cNvPr id="84" name="Oval 83">
            <a:extLst>
              <a:ext uri="{FF2B5EF4-FFF2-40B4-BE49-F238E27FC236}">
                <a16:creationId xmlns:a16="http://schemas.microsoft.com/office/drawing/2014/main" id="{14C8632D-91BF-10A6-A1B5-7E6816DD5496}"/>
              </a:ext>
            </a:extLst>
          </p:cNvPr>
          <p:cNvSpPr/>
          <p:nvPr/>
        </p:nvSpPr>
        <p:spPr>
          <a:xfrm>
            <a:off x="8701683" y="5230186"/>
            <a:ext cx="652743" cy="572654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C8C56618-7501-7B39-F804-275283BD0C12}"/>
              </a:ext>
            </a:extLst>
          </p:cNvPr>
          <p:cNvSpPr txBox="1"/>
          <p:nvPr/>
        </p:nvSpPr>
        <p:spPr>
          <a:xfrm>
            <a:off x="5904567" y="4777727"/>
            <a:ext cx="10099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Cluster 1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F85457A6-078A-AEA0-1ADB-5B60368DACD9}"/>
              </a:ext>
            </a:extLst>
          </p:cNvPr>
          <p:cNvSpPr txBox="1"/>
          <p:nvPr/>
        </p:nvSpPr>
        <p:spPr>
          <a:xfrm>
            <a:off x="7156094" y="4819291"/>
            <a:ext cx="10099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Cluster 2</a:t>
            </a: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BB9BD670-92BA-7C64-A108-50AFA7BCEF43}"/>
              </a:ext>
            </a:extLst>
          </p:cNvPr>
          <p:cNvSpPr txBox="1"/>
          <p:nvPr/>
        </p:nvSpPr>
        <p:spPr>
          <a:xfrm>
            <a:off x="8523076" y="4819291"/>
            <a:ext cx="10099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Cluster 3</a:t>
            </a: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1EBD0D96-B372-EECC-565C-1360C8BFEA81}"/>
              </a:ext>
            </a:extLst>
          </p:cNvPr>
          <p:cNvSpPr txBox="1"/>
          <p:nvPr/>
        </p:nvSpPr>
        <p:spPr>
          <a:xfrm>
            <a:off x="7125380" y="4198806"/>
            <a:ext cx="10713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Dataset 4</a:t>
            </a:r>
          </a:p>
        </p:txBody>
      </p:sp>
      <p:sp>
        <p:nvSpPr>
          <p:cNvPr id="89" name="Oval 88">
            <a:extLst>
              <a:ext uri="{FF2B5EF4-FFF2-40B4-BE49-F238E27FC236}">
                <a16:creationId xmlns:a16="http://schemas.microsoft.com/office/drawing/2014/main" id="{0072B4DC-7D15-A7F8-4983-CA841B5116ED}"/>
              </a:ext>
            </a:extLst>
          </p:cNvPr>
          <p:cNvSpPr/>
          <p:nvPr/>
        </p:nvSpPr>
        <p:spPr>
          <a:xfrm>
            <a:off x="5404394" y="4663718"/>
            <a:ext cx="4578136" cy="1432684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398218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79</TotalTime>
  <Words>349</Words>
  <Application>Microsoft Office PowerPoint</Application>
  <PresentationFormat>Widescreen</PresentationFormat>
  <Paragraphs>55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Arial</vt:lpstr>
      <vt:lpstr>Calibri</vt:lpstr>
      <vt:lpstr>Calibri Light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RWS Group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Marcin Bułka</dc:creator>
  <cp:lastModifiedBy>Marcin Bułka</cp:lastModifiedBy>
  <cp:revision>3</cp:revision>
  <dcterms:created xsi:type="dcterms:W3CDTF">2023-11-22T12:15:46Z</dcterms:created>
  <dcterms:modified xsi:type="dcterms:W3CDTF">2023-11-23T11:31:20Z</dcterms:modified>
</cp:coreProperties>
</file>